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6"/>
  </p:notesMasterIdLst>
  <p:handoutMasterIdLst>
    <p:handoutMasterId r:id="rId47"/>
  </p:handoutMasterIdLst>
  <p:sldIdLst>
    <p:sldId id="264" r:id="rId2"/>
    <p:sldId id="384" r:id="rId3"/>
    <p:sldId id="453" r:id="rId4"/>
    <p:sldId id="273" r:id="rId5"/>
    <p:sldId id="436" r:id="rId6"/>
    <p:sldId id="276" r:id="rId7"/>
    <p:sldId id="387" r:id="rId8"/>
    <p:sldId id="437" r:id="rId9"/>
    <p:sldId id="479" r:id="rId10"/>
    <p:sldId id="407" r:id="rId11"/>
    <p:sldId id="443" r:id="rId12"/>
    <p:sldId id="442" r:id="rId13"/>
    <p:sldId id="445" r:id="rId14"/>
    <p:sldId id="278" r:id="rId15"/>
    <p:sldId id="279" r:id="rId16"/>
    <p:sldId id="280" r:id="rId17"/>
    <p:sldId id="451" r:id="rId18"/>
    <p:sldId id="281" r:id="rId19"/>
    <p:sldId id="435" r:id="rId20"/>
    <p:sldId id="478" r:id="rId21"/>
    <p:sldId id="441" r:id="rId22"/>
    <p:sldId id="432" r:id="rId23"/>
    <p:sldId id="461" r:id="rId24"/>
    <p:sldId id="434" r:id="rId25"/>
    <p:sldId id="399" r:id="rId26"/>
    <p:sldId id="444" r:id="rId27"/>
    <p:sldId id="449" r:id="rId28"/>
    <p:sldId id="440" r:id="rId29"/>
    <p:sldId id="402" r:id="rId30"/>
    <p:sldId id="462" r:id="rId31"/>
    <p:sldId id="463" r:id="rId32"/>
    <p:sldId id="464" r:id="rId33"/>
    <p:sldId id="465" r:id="rId34"/>
    <p:sldId id="466" r:id="rId35"/>
    <p:sldId id="467" r:id="rId36"/>
    <p:sldId id="468" r:id="rId37"/>
    <p:sldId id="469" r:id="rId38"/>
    <p:sldId id="475" r:id="rId39"/>
    <p:sldId id="470" r:id="rId40"/>
    <p:sldId id="471" r:id="rId41"/>
    <p:sldId id="472" r:id="rId42"/>
    <p:sldId id="473" r:id="rId43"/>
    <p:sldId id="474" r:id="rId44"/>
    <p:sldId id="260" r:id="rId45"/>
  </p:sldIdLst>
  <p:sldSz cx="9906000" cy="6858000" type="A4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93939"/>
    <a:srgbClr val="F8B600"/>
    <a:srgbClr val="E6E6E6"/>
    <a:srgbClr val="888888"/>
    <a:srgbClr val="323E1A"/>
    <a:srgbClr val="003300"/>
    <a:srgbClr val="00009A"/>
    <a:srgbClr val="00007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7F97BB-C833-4FB7-BDE5-3F7075034690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5" autoAdjust="0"/>
    <p:restoredTop sz="94660" autoAdjust="0"/>
  </p:normalViewPr>
  <p:slideViewPr>
    <p:cSldViewPr showGuides="1">
      <p:cViewPr varScale="1">
        <p:scale>
          <a:sx n="114" d="100"/>
          <a:sy n="114" d="100"/>
        </p:scale>
        <p:origin x="1410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pPr/>
              <a:t>2024/10/25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FF680-7B6B-4655-B6A1-33A8AD0AE8B4}" type="datetimeFigureOut">
              <a:rPr lang="zh-TW" altLang="en-US" smtClean="0"/>
              <a:pPr/>
              <a:t>2024/10/25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690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E9FB9-4D1E-4A88-8F87-B34AFE16905A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22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diis.com.tw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32520" y="2708920"/>
            <a:ext cx="8640960" cy="7200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封面</a:t>
            </a:r>
            <a:r>
              <a:rPr lang="en-US" altLang="zh-TW" dirty="0"/>
              <a:t>/</a:t>
            </a:r>
            <a:r>
              <a:rPr lang="zh-TW" altLang="en-US" dirty="0"/>
              <a:t>區塊</a:t>
            </a:r>
          </a:p>
        </p:txBody>
      </p:sp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1352600" y="3789040"/>
            <a:ext cx="7200800" cy="108012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453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5600" y="979200"/>
            <a:ext cx="7775832" cy="4680520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78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2008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889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32520" y="1124744"/>
            <a:ext cx="8640960" cy="4680520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2008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293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3536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632520" y="1088740"/>
            <a:ext cx="8640960" cy="5148572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632520" y="1125091"/>
            <a:ext cx="4111947" cy="503996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4"/>
          </p:nvPr>
        </p:nvSpPr>
        <p:spPr>
          <a:xfrm>
            <a:off x="5150340" y="1124744"/>
            <a:ext cx="4105275" cy="504031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2008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16897" y="1124744"/>
            <a:ext cx="5259982" cy="5184576"/>
          </a:xfrm>
        </p:spPr>
        <p:txBody>
          <a:bodyPr/>
          <a:lstStyle>
            <a:lvl1pPr>
              <a:defRPr sz="28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000">
                <a:solidFill>
                  <a:srgbClr val="FFFFFF"/>
                </a:solidFill>
              </a:defRPr>
            </a:lvl3pPr>
            <a:lvl4pPr>
              <a:defRPr sz="1800">
                <a:solidFill>
                  <a:srgbClr val="FFFFFF"/>
                </a:solidFill>
              </a:defRPr>
            </a:lvl4pPr>
            <a:lvl5pPr>
              <a:defRPr sz="1800">
                <a:solidFill>
                  <a:srgbClr val="FFFFFF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120" y="1124744"/>
            <a:ext cx="3197327" cy="5184576"/>
          </a:xfr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2008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751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32520" y="72008"/>
            <a:ext cx="864096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383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5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深灰字(左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019D940-00B7-4A0E-A04F-C8F38AEF79FB}"/>
              </a:ext>
            </a:extLst>
          </p:cNvPr>
          <p:cNvSpPr txBox="1"/>
          <p:nvPr userDrawn="1"/>
        </p:nvSpPr>
        <p:spPr>
          <a:xfrm rot="16200000">
            <a:off x="1248871" y="5608626"/>
            <a:ext cx="318100" cy="200631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sz="867" b="0" dirty="0">
                <a:solidFill>
                  <a:schemeClr val="bg1">
                    <a:lumMod val="65000"/>
                  </a:schemeClr>
                </a:solidFill>
              </a:rPr>
              <a:t>CADIIS   |    </a:t>
            </a:r>
            <a:r>
              <a:rPr lang="en-US" altLang="zh-TW" sz="867" b="0" dirty="0">
                <a:solidFill>
                  <a:schemeClr val="bg1">
                    <a:lumMod val="6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https://www.cadiis.com.tw</a:t>
            </a:r>
            <a:r>
              <a:rPr lang="en-US" altLang="zh-TW" sz="867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zh-TW" altLang="en-US" sz="867" b="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96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1065600" y="979200"/>
            <a:ext cx="7776000" cy="4968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第一層 </a:t>
            </a:r>
            <a:r>
              <a:rPr lang="en-US" altLang="zh-TW" dirty="0"/>
              <a:t>28</a:t>
            </a:r>
            <a:r>
              <a:rPr lang="zh-TW" altLang="en-US" dirty="0"/>
              <a:t>號 粗體</a:t>
            </a:r>
          </a:p>
          <a:p>
            <a:pPr lvl="1"/>
            <a:r>
              <a:rPr lang="zh-TW" altLang="en-US" dirty="0"/>
              <a:t>第二層 </a:t>
            </a:r>
            <a:r>
              <a:rPr lang="en-US" altLang="zh-TW" dirty="0"/>
              <a:t>24</a:t>
            </a:r>
            <a:r>
              <a:rPr lang="zh-TW" altLang="en-US" dirty="0"/>
              <a:t>號 </a:t>
            </a:r>
          </a:p>
          <a:p>
            <a:pPr lvl="2"/>
            <a:r>
              <a:rPr lang="zh-TW" altLang="en-US" dirty="0"/>
              <a:t>第三層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3"/>
            <a:r>
              <a:rPr lang="zh-TW" altLang="en-US" dirty="0"/>
              <a:t>第四層 </a:t>
            </a:r>
            <a:r>
              <a:rPr lang="en-US" altLang="zh-TW" dirty="0"/>
              <a:t>18</a:t>
            </a:r>
            <a:r>
              <a:rPr lang="zh-TW" altLang="en-US" dirty="0"/>
              <a:t>號</a:t>
            </a:r>
          </a:p>
          <a:p>
            <a:pPr lvl="4"/>
            <a:r>
              <a:rPr lang="zh-TW" altLang="en-US" dirty="0"/>
              <a:t>第五層 </a:t>
            </a:r>
            <a:r>
              <a:rPr lang="en-US" altLang="zh-TW" dirty="0"/>
              <a:t>18</a:t>
            </a:r>
            <a:r>
              <a:rPr lang="zh-TW" altLang="en-US" dirty="0"/>
              <a:t>號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556956" y="6647583"/>
            <a:ext cx="79208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8F4EACC7-37E3-43A5-A5FB-BEB9CE95D266}" type="slidenum">
              <a:rPr lang="zh-TW" alt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81037" y="72009"/>
            <a:ext cx="8543925" cy="692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791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53" r:id="rId5"/>
    <p:sldLayoutId id="2147483657" r:id="rId6"/>
    <p:sldLayoutId id="2147483671" r:id="rId7"/>
    <p:sldLayoutId id="2147483670" r:id="rId8"/>
    <p:sldLayoutId id="2147483676" r:id="rId9"/>
    <p:sldLayoutId id="2147483677" r:id="rId10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zh-TW" altLang="en-US" sz="3600" b="1" kern="1200" spc="300" dirty="0">
          <a:solidFill>
            <a:srgbClr val="FFC000"/>
          </a:solidFill>
          <a:latin typeface="+mn-ea"/>
          <a:ea typeface="+mn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l"/>
        <a:defRPr sz="28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14375" indent="-35242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u"/>
        <a:defRPr sz="2400" b="0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990600" indent="-27622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Wingdings" panose="05000000000000000000" pitchFamily="2" charset="2"/>
        <a:buChar char="p"/>
        <a:defRPr sz="2000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257300" indent="-2667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 typeface="Wingdings" panose="05000000000000000000" pitchFamily="2" charset="2"/>
        <a:buChar char="n"/>
        <a:defRPr sz="1800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1524000" indent="-2667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5"/>
        </a:buClr>
        <a:buFont typeface="Arial" pitchFamily="34" charset="0"/>
        <a:buChar char="»"/>
        <a:defRPr sz="1800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hyperlink" Target="https://ugeek.github.io/blog/post/2020-01-06-descargando-un-directorio-de-git-con-gitdir.html" TargetMode="External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gif"/><Relationship Id="rId4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340000"/>
            <a:ext cx="9906000" cy="720080"/>
          </a:xfrm>
        </p:spPr>
        <p:txBody>
          <a:bodyPr>
            <a:normAutofit fontScale="90000"/>
          </a:bodyPr>
          <a:lstStyle/>
          <a:p>
            <a:r>
              <a:rPr lang="en-US" altLang="zh-TW" sz="4000" dirty="0"/>
              <a:t>Travel</a:t>
            </a:r>
            <a:r>
              <a:rPr lang="zh-TW" altLang="en-US" sz="4000" dirty="0"/>
              <a:t> </a:t>
            </a:r>
            <a:r>
              <a:rPr lang="en-US" altLang="zh-TW" sz="4000" dirty="0"/>
              <a:t>Nest</a:t>
            </a:r>
            <a:br>
              <a:rPr lang="en-US" altLang="zh-TW" sz="4000" dirty="0"/>
            </a:br>
            <a:r>
              <a:rPr lang="en-US" altLang="zh-TW" sz="4000" dirty="0"/>
              <a:t>(</a:t>
            </a:r>
            <a:r>
              <a:rPr lang="zh-TW" altLang="en-US" sz="4000" dirty="0"/>
              <a:t>機票訂購網</a:t>
            </a:r>
            <a:r>
              <a:rPr lang="en-US" altLang="zh-TW" sz="4000" dirty="0"/>
              <a:t>)</a:t>
            </a:r>
            <a:endParaRPr lang="zh-TW" altLang="en-US" sz="40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副標題 4"/>
          <p:cNvSpPr txBox="1">
            <a:spLocks/>
          </p:cNvSpPr>
          <p:nvPr/>
        </p:nvSpPr>
        <p:spPr bwMode="ltGray">
          <a:xfrm>
            <a:off x="1353600" y="3960000"/>
            <a:ext cx="7704856" cy="1845264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None/>
              <a:defRPr sz="2000" b="1" kern="1200">
                <a:solidFill>
                  <a:srgbClr val="39393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itchFamily="34" charset="0"/>
              <a:buNone/>
              <a:defRPr sz="2400" b="1" kern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10000"/>
              </a:spcBef>
              <a:buClrTx/>
              <a:defRPr/>
            </a:pPr>
            <a:r>
              <a:rPr lang="zh-TW" altLang="en-US" sz="2400" b="0" dirty="0">
                <a:solidFill>
                  <a:schemeClr val="accent4"/>
                </a:solidFill>
              </a:rPr>
              <a:t>組別：第一組</a:t>
            </a:r>
            <a:endParaRPr lang="en-US" altLang="zh-TW" sz="2400" b="0" dirty="0">
              <a:solidFill>
                <a:schemeClr val="accent4"/>
              </a:solidFill>
            </a:endParaRPr>
          </a:p>
          <a:p>
            <a:pPr algn="l">
              <a:lnSpc>
                <a:spcPct val="100000"/>
              </a:lnSpc>
              <a:spcBef>
                <a:spcPct val="10000"/>
              </a:spcBef>
              <a:buClrTx/>
              <a:defRPr/>
            </a:pPr>
            <a:r>
              <a:rPr lang="zh-TW" altLang="en-US" sz="2400" b="0" dirty="0">
                <a:solidFill>
                  <a:schemeClr val="accent4"/>
                </a:solidFill>
              </a:rPr>
              <a:t>組員：陳宥琁、黃俐儒、紀庚佑、楊凱宇、陳柏逸</a:t>
            </a:r>
            <a:endParaRPr lang="en-US" altLang="zh-TW" sz="2400" b="0" dirty="0">
              <a:solidFill>
                <a:schemeClr val="accent4"/>
              </a:solidFill>
            </a:endParaRPr>
          </a:p>
          <a:p>
            <a:pPr algn="l">
              <a:lnSpc>
                <a:spcPct val="100000"/>
              </a:lnSpc>
              <a:spcBef>
                <a:spcPct val="10000"/>
              </a:spcBef>
              <a:buClrTx/>
              <a:defRPr/>
            </a:pPr>
            <a:r>
              <a:rPr lang="zh-TW" altLang="en-US" sz="2400" b="0" dirty="0">
                <a:solidFill>
                  <a:schemeClr val="accent4"/>
                </a:solidFill>
              </a:rPr>
              <a:t>指導老師：趙令文老師、許雅婷老師</a:t>
            </a:r>
            <a:endParaRPr lang="en-US" altLang="zh-TW" sz="2400" b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31AC-B9E8-1E58-F7FD-40FEBFF9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B3BF55E-F7B0-5798-2B57-3EA6792048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2520" y="231140"/>
            <a:ext cx="8640960" cy="68102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目錄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CCA9BE51-648F-87FE-C534-99D53ABFE889}"/>
              </a:ext>
            </a:extLst>
          </p:cNvPr>
          <p:cNvGrpSpPr/>
          <p:nvPr/>
        </p:nvGrpSpPr>
        <p:grpSpPr>
          <a:xfrm>
            <a:off x="2720752" y="1340768"/>
            <a:ext cx="1985635" cy="519115"/>
            <a:chOff x="1208584" y="1196752"/>
            <a:chExt cx="1985635" cy="51911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673C97A0-6B31-0665-BEE8-282CBA501B6D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FAA8CDD-2E7F-B67D-E0AB-4CF76B6D0B74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CBCC0C9-8786-26DA-2423-703D9E6883A4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9AC968B5-47E5-CF18-CCF4-C7FCA49C2EDD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專案分工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836727A1-0143-0249-67FC-6CDA17D8371B}"/>
              </a:ext>
            </a:extLst>
          </p:cNvPr>
          <p:cNvGrpSpPr/>
          <p:nvPr/>
        </p:nvGrpSpPr>
        <p:grpSpPr>
          <a:xfrm>
            <a:off x="5457056" y="2060848"/>
            <a:ext cx="1985635" cy="519115"/>
            <a:chOff x="1208584" y="1196752"/>
            <a:chExt cx="1985635" cy="519115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3BA1088-F07D-21FC-330F-2D7EACBC50C3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F0007C4-C551-F889-B49C-538F8EFD17DE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8B2C0F6-D35B-BFE8-B5BB-CB1C5DDCB94B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90A4DE3-1A9A-1360-5656-7C41EC5AEF61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動機目標</a:t>
              </a: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2C951DAF-6E94-6123-651F-8978DBF6C17D}"/>
              </a:ext>
            </a:extLst>
          </p:cNvPr>
          <p:cNvGrpSpPr/>
          <p:nvPr/>
        </p:nvGrpSpPr>
        <p:grpSpPr>
          <a:xfrm>
            <a:off x="2720752" y="3169442"/>
            <a:ext cx="1985635" cy="519115"/>
            <a:chOff x="1208584" y="1196752"/>
            <a:chExt cx="1985635" cy="519115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D885C6D6-2C58-D423-C96A-B8511A264ED4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34F2DF4-D0BF-F4EE-E7CA-DA6745083DBF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7F9530E-769A-DFD7-CB64-371E1FA3F7B1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4B53D35-40D7-6D34-FDF4-5D15A8AF12CC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網站架構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B1AE4275-E967-1480-809A-D891E0EBD065}"/>
              </a:ext>
            </a:extLst>
          </p:cNvPr>
          <p:cNvGrpSpPr/>
          <p:nvPr/>
        </p:nvGrpSpPr>
        <p:grpSpPr>
          <a:xfrm>
            <a:off x="5457056" y="3995531"/>
            <a:ext cx="1985635" cy="519115"/>
            <a:chOff x="1208584" y="1196752"/>
            <a:chExt cx="1985635" cy="519115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7A66631-0670-C37F-B437-0387ECFC2035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2D98EAD-D78E-5DFF-FC24-812DB37FE632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B573032C-8447-6A30-A101-FA959E675197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953DF0E-1DEB-41D0-DFD6-5FF090B1892D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技術運用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4B8CD2B-AD49-F2B2-C726-801B5C9BE2ED}"/>
              </a:ext>
            </a:extLst>
          </p:cNvPr>
          <p:cNvGrpSpPr/>
          <p:nvPr/>
        </p:nvGrpSpPr>
        <p:grpSpPr>
          <a:xfrm>
            <a:off x="2729892" y="5055566"/>
            <a:ext cx="1985635" cy="519115"/>
            <a:chOff x="1208584" y="1196752"/>
            <a:chExt cx="1985635" cy="519115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B820671E-B5E0-111C-57E7-9DBCD53BE0C7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9421499-E28F-5A7D-AAB8-2D30BD67B969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87120FA-FC9F-E464-A0EB-04E083CA88E1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7286FC9-62EC-3425-0A9B-26CBE6E63B2A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操作演示</a:t>
              </a:r>
            </a:p>
          </p:txBody>
        </p: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DA9C54B-AD18-2C1B-ADDB-6F58F9BA7DA8}"/>
              </a:ext>
            </a:extLst>
          </p:cNvPr>
          <p:cNvSpPr txBox="1"/>
          <p:nvPr/>
        </p:nvSpPr>
        <p:spPr>
          <a:xfrm>
            <a:off x="2729892" y="1313347"/>
            <a:ext cx="3417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1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6870E2C-2191-AA3C-8E2A-A5481DADCACD}"/>
              </a:ext>
            </a:extLst>
          </p:cNvPr>
          <p:cNvSpPr txBox="1"/>
          <p:nvPr/>
        </p:nvSpPr>
        <p:spPr>
          <a:xfrm>
            <a:off x="5466196" y="2031558"/>
            <a:ext cx="341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2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A040B99-3456-7ECC-0849-AA4273521BEA}"/>
              </a:ext>
            </a:extLst>
          </p:cNvPr>
          <p:cNvSpPr txBox="1"/>
          <p:nvPr/>
        </p:nvSpPr>
        <p:spPr>
          <a:xfrm>
            <a:off x="2726560" y="3134018"/>
            <a:ext cx="341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3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40B5C05-7EB4-2359-DEC9-FF4326455837}"/>
              </a:ext>
            </a:extLst>
          </p:cNvPr>
          <p:cNvSpPr txBox="1"/>
          <p:nvPr/>
        </p:nvSpPr>
        <p:spPr>
          <a:xfrm>
            <a:off x="5466196" y="3964669"/>
            <a:ext cx="341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4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583FEA2-CD9E-9FF0-7195-65B72E0FF55F}"/>
              </a:ext>
            </a:extLst>
          </p:cNvPr>
          <p:cNvSpPr txBox="1"/>
          <p:nvPr/>
        </p:nvSpPr>
        <p:spPr>
          <a:xfrm>
            <a:off x="2726560" y="5020142"/>
            <a:ext cx="341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5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A6F6776-2E04-ED71-54FF-5AEC4102C8D9}"/>
              </a:ext>
            </a:extLst>
          </p:cNvPr>
          <p:cNvGrpSpPr/>
          <p:nvPr/>
        </p:nvGrpSpPr>
        <p:grpSpPr>
          <a:xfrm>
            <a:off x="5457056" y="5780647"/>
            <a:ext cx="1985635" cy="519115"/>
            <a:chOff x="1208584" y="1196752"/>
            <a:chExt cx="1985635" cy="519115"/>
          </a:xfrm>
        </p:grpSpPr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3BDC4D9B-114D-93AD-CC5C-A691EAC363BA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1E463D0-EAA4-0FA9-8563-2759AEED6A81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3CEA6A3-CD7A-40AE-D99D-9A6BBD73EBC8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349FFC2-682E-ED48-8F3D-872B503EE07E}"/>
                </a:ext>
              </a:extLst>
            </p:cNvPr>
            <p:cNvSpPr txBox="1"/>
            <p:nvPr/>
          </p:nvSpPr>
          <p:spPr>
            <a:xfrm>
              <a:off x="1778447" y="12542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rgbClr val="FFFFFF"/>
                  </a:solidFill>
                </a:rPr>
                <a:t>技術講解</a:t>
              </a:r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2676A72-C561-DF4D-3896-3F87BF4B125A}"/>
              </a:ext>
            </a:extLst>
          </p:cNvPr>
          <p:cNvSpPr txBox="1"/>
          <p:nvPr/>
        </p:nvSpPr>
        <p:spPr>
          <a:xfrm>
            <a:off x="5453724" y="5745223"/>
            <a:ext cx="341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tx1">
                    <a:lumMod val="75000"/>
                  </a:schemeClr>
                </a:solidFill>
              </a:rPr>
              <a:t>6</a:t>
            </a:r>
            <a:endParaRPr lang="zh-TW" altLang="en-US" sz="2200" b="1" dirty="0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74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F6A7170-9A5B-4285-67B9-8CA731CBCF2B}"/>
              </a:ext>
            </a:extLst>
          </p:cNvPr>
          <p:cNvSpPr txBox="1"/>
          <p:nvPr/>
        </p:nvSpPr>
        <p:spPr>
          <a:xfrm>
            <a:off x="3892799" y="246662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TW" altLang="en-US" sz="3600" b="1" spc="300" dirty="0">
                <a:solidFill>
                  <a:srgbClr val="FFC000"/>
                </a:solidFill>
                <a:latin typeface="+mn-ea"/>
                <a:cs typeface="+mj-cs"/>
              </a:rPr>
              <a:t>專案分工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EA6FDF8-6C9F-D9F0-369B-F8AB2C3D235F}"/>
              </a:ext>
            </a:extLst>
          </p:cNvPr>
          <p:cNvGrpSpPr/>
          <p:nvPr/>
        </p:nvGrpSpPr>
        <p:grpSpPr>
          <a:xfrm>
            <a:off x="535958" y="3212976"/>
            <a:ext cx="2372129" cy="2025559"/>
            <a:chOff x="1928664" y="1412776"/>
            <a:chExt cx="2372129" cy="2025559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3ADCBCD7-44D3-809E-6839-26137DFFB5BA}"/>
                </a:ext>
              </a:extLst>
            </p:cNvPr>
            <p:cNvSpPr txBox="1"/>
            <p:nvPr/>
          </p:nvSpPr>
          <p:spPr>
            <a:xfrm>
              <a:off x="1928664" y="141277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FF"/>
                  </a:solidFill>
                </a:rPr>
                <a:t>楊凱宇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22FDEFF-EFE8-9556-242C-CEEF23D98AC4}"/>
                </a:ext>
              </a:extLst>
            </p:cNvPr>
            <p:cNvSpPr txBox="1"/>
            <p:nvPr/>
          </p:nvSpPr>
          <p:spPr>
            <a:xfrm>
              <a:off x="2288704" y="1770250"/>
              <a:ext cx="2012089" cy="1668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第三方登入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 err="1">
                  <a:solidFill>
                    <a:srgbClr val="FFFFFF"/>
                  </a:solidFill>
                </a:rPr>
                <a:t>Ecpay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>
                  <a:solidFill>
                    <a:srgbClr val="FFFFFF"/>
                  </a:solidFill>
                </a:rPr>
                <a:t>UI/UX</a:t>
              </a:r>
              <a:r>
                <a:rPr lang="zh-TW" altLang="en-US" b="1" dirty="0">
                  <a:solidFill>
                    <a:srgbClr val="FFFFFF"/>
                  </a:solidFill>
                </a:rPr>
                <a:t>介面設計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資料庫建置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後臺管理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80CB1116-D948-4F06-A926-6DCBA6C0BD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0" r="16650"/>
          <a:stretch/>
        </p:blipFill>
        <p:spPr>
          <a:xfrm>
            <a:off x="4317492" y="1412776"/>
            <a:ext cx="1356818" cy="1356818"/>
          </a:xfrm>
          <a:prstGeom prst="flowChartConnector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9D266280-AB3A-4A72-A880-F094B846B003}"/>
              </a:ext>
            </a:extLst>
          </p:cNvPr>
          <p:cNvGrpSpPr/>
          <p:nvPr/>
        </p:nvGrpSpPr>
        <p:grpSpPr>
          <a:xfrm>
            <a:off x="3874110" y="3192694"/>
            <a:ext cx="2372129" cy="2025559"/>
            <a:chOff x="1928664" y="1412776"/>
            <a:chExt cx="2372129" cy="2025559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0DC2B61-B83F-4E8D-B4CC-8B3654D0B400}"/>
                </a:ext>
              </a:extLst>
            </p:cNvPr>
            <p:cNvSpPr txBox="1"/>
            <p:nvPr/>
          </p:nvSpPr>
          <p:spPr>
            <a:xfrm>
              <a:off x="1928664" y="141277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FF"/>
                  </a:solidFill>
                </a:rPr>
                <a:t>黃俐儒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4805B29-F1C5-4256-AB4A-D3A797126DD1}"/>
                </a:ext>
              </a:extLst>
            </p:cNvPr>
            <p:cNvSpPr txBox="1"/>
            <p:nvPr/>
          </p:nvSpPr>
          <p:spPr>
            <a:xfrm>
              <a:off x="2288704" y="1770250"/>
              <a:ext cx="2012089" cy="1668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訂購系統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付款整合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>
                  <a:solidFill>
                    <a:srgbClr val="FFFFFF"/>
                  </a:solidFill>
                </a:rPr>
                <a:t>UI/UX</a:t>
              </a:r>
              <a:r>
                <a:rPr lang="zh-TW" altLang="en-US" b="1" dirty="0">
                  <a:solidFill>
                    <a:srgbClr val="FFFFFF"/>
                  </a:solidFill>
                </a:rPr>
                <a:t>介面設計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資料庫建置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後臺管理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2B17D68D-BE52-6C21-AF72-9925E026F4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" t="513" r="417" b="21771"/>
          <a:stretch/>
        </p:blipFill>
        <p:spPr>
          <a:xfrm>
            <a:off x="848544" y="1412776"/>
            <a:ext cx="1356818" cy="1356818"/>
          </a:xfrm>
          <a:prstGeom prst="flowChartConnector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3F93BBBC-32FA-4C55-A28B-746AB6DBF098}"/>
              </a:ext>
            </a:extLst>
          </p:cNvPr>
          <p:cNvGrpSpPr/>
          <p:nvPr/>
        </p:nvGrpSpPr>
        <p:grpSpPr>
          <a:xfrm>
            <a:off x="7329264" y="3212976"/>
            <a:ext cx="2372129" cy="1704959"/>
            <a:chOff x="1928664" y="1412776"/>
            <a:chExt cx="2372129" cy="1704959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A8313CE-CEF8-49A7-AE05-04A603F89716}"/>
                </a:ext>
              </a:extLst>
            </p:cNvPr>
            <p:cNvSpPr txBox="1"/>
            <p:nvPr/>
          </p:nvSpPr>
          <p:spPr>
            <a:xfrm>
              <a:off x="1928664" y="141277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FF"/>
                  </a:solidFill>
                </a:rPr>
                <a:t>紀庚佑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4F972ED5-B19D-4949-B2BF-E83BDB8CD675}"/>
                </a:ext>
              </a:extLst>
            </p:cNvPr>
            <p:cNvSpPr txBox="1"/>
            <p:nvPr/>
          </p:nvSpPr>
          <p:spPr>
            <a:xfrm>
              <a:off x="2288704" y="1770250"/>
              <a:ext cx="2012089" cy="1347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機票搜尋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專案合併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>
                  <a:solidFill>
                    <a:srgbClr val="FFFFFF"/>
                  </a:solidFill>
                </a:rPr>
                <a:t>UI/UX</a:t>
              </a:r>
              <a:r>
                <a:rPr lang="zh-TW" altLang="en-US" b="1" dirty="0">
                  <a:solidFill>
                    <a:srgbClr val="FFFFFF"/>
                  </a:solidFill>
                </a:rPr>
                <a:t>介面設計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資料庫建置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7" name="圖片 26">
            <a:extLst>
              <a:ext uri="{FF2B5EF4-FFF2-40B4-BE49-F238E27FC236}">
                <a16:creationId xmlns:a16="http://schemas.microsoft.com/office/drawing/2014/main" id="{EC52556A-590F-4B78-BE88-C8096BFC10A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4" b="14800"/>
          <a:stretch/>
        </p:blipFill>
        <p:spPr>
          <a:xfrm>
            <a:off x="7572302" y="1412776"/>
            <a:ext cx="1356818" cy="135681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56999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F6A7170-9A5B-4285-67B9-8CA731CBCF2B}"/>
              </a:ext>
            </a:extLst>
          </p:cNvPr>
          <p:cNvSpPr txBox="1"/>
          <p:nvPr/>
        </p:nvSpPr>
        <p:spPr>
          <a:xfrm>
            <a:off x="3892799" y="246662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TW" altLang="en-US" sz="3600" b="1" spc="300" dirty="0">
                <a:solidFill>
                  <a:srgbClr val="FFC000"/>
                </a:solidFill>
                <a:latin typeface="+mn-ea"/>
                <a:cs typeface="+mj-cs"/>
              </a:rPr>
              <a:t>專案分工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D64BB021-14A0-9B4C-A227-023E5AE5198E}"/>
              </a:ext>
            </a:extLst>
          </p:cNvPr>
          <p:cNvGrpSpPr/>
          <p:nvPr/>
        </p:nvGrpSpPr>
        <p:grpSpPr>
          <a:xfrm>
            <a:off x="2132842" y="3212976"/>
            <a:ext cx="2372129" cy="2025559"/>
            <a:chOff x="1928664" y="1412776"/>
            <a:chExt cx="2372129" cy="2025559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E0FEC08-C8D8-067D-9814-0DB08320F143}"/>
                </a:ext>
              </a:extLst>
            </p:cNvPr>
            <p:cNvSpPr txBox="1"/>
            <p:nvPr/>
          </p:nvSpPr>
          <p:spPr>
            <a:xfrm>
              <a:off x="1928664" y="141277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FF"/>
                  </a:solidFill>
                </a:rPr>
                <a:t>陳宥琁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E2EE0CE1-CE21-3091-B1BB-67965B974D3B}"/>
                </a:ext>
              </a:extLst>
            </p:cNvPr>
            <p:cNvSpPr txBox="1"/>
            <p:nvPr/>
          </p:nvSpPr>
          <p:spPr>
            <a:xfrm>
              <a:off x="2288704" y="1770250"/>
              <a:ext cx="2012089" cy="1668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評論系統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客服</a:t>
              </a:r>
              <a:r>
                <a:rPr lang="en-US" altLang="zh-TW" b="1" dirty="0">
                  <a:solidFill>
                    <a:srgbClr val="FFFFFF"/>
                  </a:solidFill>
                </a:rPr>
                <a:t>Email</a:t>
              </a: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>
                  <a:solidFill>
                    <a:srgbClr val="FFFFFF"/>
                  </a:solidFill>
                </a:rPr>
                <a:t>UI/UX</a:t>
              </a:r>
              <a:r>
                <a:rPr lang="zh-TW" altLang="en-US" b="1" dirty="0">
                  <a:solidFill>
                    <a:srgbClr val="FFFFFF"/>
                  </a:solidFill>
                </a:rPr>
                <a:t>介面設計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資料庫建置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後臺管理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ADAD8AF9-CA94-41B9-A89A-E9115DB477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3" t="-2" r="23860" b="22530"/>
          <a:stretch/>
        </p:blipFill>
        <p:spPr>
          <a:xfrm>
            <a:off x="2432720" y="1426241"/>
            <a:ext cx="1356818" cy="1356818"/>
          </a:xfrm>
          <a:prstGeom prst="flowChartConnector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5F5FDB38-71B3-45EE-BC29-05A628683FA8}"/>
              </a:ext>
            </a:extLst>
          </p:cNvPr>
          <p:cNvGrpSpPr/>
          <p:nvPr/>
        </p:nvGrpSpPr>
        <p:grpSpPr>
          <a:xfrm>
            <a:off x="5871055" y="3212976"/>
            <a:ext cx="2449073" cy="2025559"/>
            <a:chOff x="1928664" y="1412776"/>
            <a:chExt cx="2449073" cy="2025559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C99EB45-218F-4F56-80DF-7F23D7058B83}"/>
                </a:ext>
              </a:extLst>
            </p:cNvPr>
            <p:cNvSpPr txBox="1"/>
            <p:nvPr/>
          </p:nvSpPr>
          <p:spPr>
            <a:xfrm>
              <a:off x="1928664" y="141277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FF"/>
                  </a:solidFill>
                </a:rPr>
                <a:t>陳柏逸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7445145-5212-4212-8F19-EFD1BED8BA13}"/>
                </a:ext>
              </a:extLst>
            </p:cNvPr>
            <p:cNvSpPr txBox="1"/>
            <p:nvPr/>
          </p:nvSpPr>
          <p:spPr>
            <a:xfrm>
              <a:off x="2288704" y="1770250"/>
              <a:ext cx="2089033" cy="16680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會員系統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第三方登入整合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altLang="zh-TW" b="1" dirty="0">
                  <a:solidFill>
                    <a:srgbClr val="FFFFFF"/>
                  </a:solidFill>
                </a:rPr>
                <a:t>UI/UX</a:t>
              </a:r>
              <a:r>
                <a:rPr lang="zh-TW" altLang="en-US" b="1" dirty="0">
                  <a:solidFill>
                    <a:srgbClr val="FFFFFF"/>
                  </a:solidFill>
                </a:rPr>
                <a:t>介面設計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資料庫建置</a:t>
              </a:r>
              <a:endParaRPr lang="en-US" altLang="zh-TW" b="1" dirty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rgbClr val="FFFFFF"/>
                  </a:solidFill>
                </a:rPr>
                <a:t>後臺管理</a:t>
              </a:r>
              <a:endParaRPr lang="en-US" altLang="zh-TW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0" name="圖片 19">
            <a:extLst>
              <a:ext uri="{FF2B5EF4-FFF2-40B4-BE49-F238E27FC236}">
                <a16:creationId xmlns:a16="http://schemas.microsoft.com/office/drawing/2014/main" id="{DADC0D6D-B963-44AC-BA2E-EB1F1F8D8F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45" b="19637"/>
          <a:stretch/>
        </p:blipFill>
        <p:spPr>
          <a:xfrm>
            <a:off x="6328728" y="1421990"/>
            <a:ext cx="1356818" cy="135681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117993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560D-CDD1-2BCF-114D-1C1802D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E109A68-379B-05AF-C710-EF9B959222EA}"/>
              </a:ext>
            </a:extLst>
          </p:cNvPr>
          <p:cNvGrpSpPr/>
          <p:nvPr/>
        </p:nvGrpSpPr>
        <p:grpSpPr>
          <a:xfrm>
            <a:off x="2216696" y="1772816"/>
            <a:ext cx="2699626" cy="646331"/>
            <a:chOff x="1208584" y="1124744"/>
            <a:chExt cx="2699626" cy="64633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6E0EE28-09B8-5B6B-72FB-8EB3942EBD5D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6D5DC74-F6A3-94F0-B218-7F6004AE5154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592586-0610-DB9E-2C24-824E7BC2A268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39CCF67-870B-2B12-5F36-2D25CD280D63}"/>
                </a:ext>
              </a:extLst>
            </p:cNvPr>
            <p:cNvSpPr txBox="1"/>
            <p:nvPr/>
          </p:nvSpPr>
          <p:spPr>
            <a:xfrm>
              <a:off x="1748644" y="1124744"/>
              <a:ext cx="21595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FFC000"/>
                  </a:solidFill>
                </a:rPr>
                <a:t>聯繫</a:t>
              </a:r>
              <a:r>
                <a:rPr lang="en-US" altLang="zh-TW" sz="3600" b="1" dirty="0">
                  <a:solidFill>
                    <a:srgbClr val="FFC000"/>
                  </a:solidFill>
                </a:rPr>
                <a:t>/</a:t>
              </a:r>
              <a:r>
                <a:rPr lang="zh-TW" altLang="en-US" sz="3600" b="1" dirty="0">
                  <a:solidFill>
                    <a:srgbClr val="FFC000"/>
                  </a:solidFill>
                </a:rPr>
                <a:t>後台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6D901C-05EF-A1CD-193A-7FD1D0DBD106}"/>
              </a:ext>
            </a:extLst>
          </p:cNvPr>
          <p:cNvSpPr txBox="1"/>
          <p:nvPr/>
        </p:nvSpPr>
        <p:spPr>
          <a:xfrm>
            <a:off x="2936776" y="2564904"/>
            <a:ext cx="1620957" cy="1305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意見回饋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sz="2800" dirty="0">
              <a:solidFill>
                <a:schemeClr val="bg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A82A6C7-5FCD-E4E5-D9D0-CD4A10F533D3}"/>
              </a:ext>
            </a:extLst>
          </p:cNvPr>
          <p:cNvGrpSpPr/>
          <p:nvPr/>
        </p:nvGrpSpPr>
        <p:grpSpPr>
          <a:xfrm>
            <a:off x="6437166" y="3284984"/>
            <a:ext cx="1728192" cy="283191"/>
            <a:chOff x="6177136" y="3429000"/>
            <a:chExt cx="1728192" cy="283191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88E4EF8A-612F-810B-9E67-6EF6FA19DB2F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429000"/>
              <a:ext cx="1728192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2E69ED7-F6E8-1EEA-E2AA-F0E35838B340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573016"/>
              <a:ext cx="1359768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5BA1F0E-5F79-ECF2-10BA-666A082CC6D1}"/>
                </a:ext>
              </a:extLst>
            </p:cNvPr>
            <p:cNvCxnSpPr>
              <a:cxnSpLocks/>
            </p:cNvCxnSpPr>
            <p:nvPr/>
          </p:nvCxnSpPr>
          <p:spPr>
            <a:xfrm>
              <a:off x="6178925" y="3712191"/>
              <a:ext cx="92772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519269-9CB7-7285-7691-764FB6F7BF3A}"/>
              </a:ext>
            </a:extLst>
          </p:cNvPr>
          <p:cNvSpPr txBox="1"/>
          <p:nvPr/>
        </p:nvSpPr>
        <p:spPr>
          <a:xfrm>
            <a:off x="6593376" y="270020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</a:rPr>
              <a:t>楊凱宇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73A12D-179D-4602-9C98-1C8F86091C90}"/>
              </a:ext>
            </a:extLst>
          </p:cNvPr>
          <p:cNvSpPr txBox="1"/>
          <p:nvPr/>
        </p:nvSpPr>
        <p:spPr>
          <a:xfrm>
            <a:off x="2936776" y="3210658"/>
            <a:ext cx="1620957" cy="659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後台管理</a:t>
            </a:r>
            <a:endParaRPr lang="en-US" altLang="zh-TW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1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6EA1-E685-3D8F-0D6A-7560A41A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8A7CDC7-90BB-BF05-96B3-20C1BD0A7C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2520" y="188640"/>
            <a:ext cx="8640960" cy="69269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動機及目標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ED07A90-126F-4C4A-AA95-A8DA6F683FDE}"/>
              </a:ext>
            </a:extLst>
          </p:cNvPr>
          <p:cNvSpPr/>
          <p:nvPr/>
        </p:nvSpPr>
        <p:spPr>
          <a:xfrm>
            <a:off x="1054122" y="2070562"/>
            <a:ext cx="3456384" cy="432048"/>
          </a:xfrm>
          <a:prstGeom prst="roundRect">
            <a:avLst/>
          </a:prstGeom>
          <a:solidFill>
            <a:srgbClr val="F8B6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>
                    <a:lumMod val="50000"/>
                  </a:schemeClr>
                </a:solidFill>
              </a:rPr>
              <a:t>製作動機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A3C11595-6458-429D-B59F-E8D13F997549}"/>
              </a:ext>
            </a:extLst>
          </p:cNvPr>
          <p:cNvGrpSpPr/>
          <p:nvPr/>
        </p:nvGrpSpPr>
        <p:grpSpPr>
          <a:xfrm>
            <a:off x="5395493" y="2502610"/>
            <a:ext cx="3877987" cy="371207"/>
            <a:chOff x="5526647" y="1921478"/>
            <a:chExt cx="4608232" cy="371207"/>
          </a:xfrm>
          <a:solidFill>
            <a:srgbClr val="F8B600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01F50D3-327A-41BD-ACE7-B3EF9D1C9435}"/>
                </a:ext>
              </a:extLst>
            </p:cNvPr>
            <p:cNvSpPr/>
            <p:nvPr/>
          </p:nvSpPr>
          <p:spPr>
            <a:xfrm>
              <a:off x="5526650" y="1921478"/>
              <a:ext cx="4608229" cy="360040"/>
            </a:xfrm>
            <a:prstGeom prst="rect">
              <a:avLst/>
            </a:prstGeom>
            <a:grpFill/>
            <a:ln w="12700">
              <a:solidFill>
                <a:srgbClr val="F8B6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71D0453-03B4-41AD-9AC5-172C1F39ADBF}"/>
                </a:ext>
              </a:extLst>
            </p:cNvPr>
            <p:cNvSpPr txBox="1"/>
            <p:nvPr/>
          </p:nvSpPr>
          <p:spPr>
            <a:xfrm>
              <a:off x="5526647" y="1923353"/>
              <a:ext cx="4608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  <a:latin typeface="微軟正黑體" pitchFamily="34" charset="-120"/>
                  <a:ea typeface="微軟正黑體" pitchFamily="34" charset="-120"/>
                </a:rPr>
                <a:t>市面上機票網站大部分只有比價功能</a:t>
              </a:r>
              <a:endParaRPr lang="zh-TW" altLang="en-US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D045BD2-7607-4229-AE06-A3E3480F8FAE}"/>
              </a:ext>
            </a:extLst>
          </p:cNvPr>
          <p:cNvSpPr/>
          <p:nvPr/>
        </p:nvSpPr>
        <p:spPr>
          <a:xfrm>
            <a:off x="1054122" y="4293096"/>
            <a:ext cx="3456384" cy="432048"/>
          </a:xfrm>
          <a:prstGeom prst="roundRect">
            <a:avLst/>
          </a:prstGeom>
          <a:solidFill>
            <a:srgbClr val="F8B6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>
                    <a:lumMod val="50000"/>
                  </a:schemeClr>
                </a:solidFill>
              </a:rPr>
              <a:t>網站目標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DFF3797-9C0A-4F31-B01E-8EDDA5251923}"/>
              </a:ext>
            </a:extLst>
          </p:cNvPr>
          <p:cNvGrpSpPr/>
          <p:nvPr/>
        </p:nvGrpSpPr>
        <p:grpSpPr>
          <a:xfrm>
            <a:off x="5395493" y="3927733"/>
            <a:ext cx="3877987" cy="369332"/>
            <a:chOff x="5422214" y="1914614"/>
            <a:chExt cx="3456386" cy="369332"/>
          </a:xfrm>
          <a:solidFill>
            <a:srgbClr val="F8B600"/>
          </a:solidFill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C1337BB-960F-4D85-B37E-BB10A52A6E1C}"/>
                </a:ext>
              </a:extLst>
            </p:cNvPr>
            <p:cNvSpPr/>
            <p:nvPr/>
          </p:nvSpPr>
          <p:spPr>
            <a:xfrm>
              <a:off x="5422216" y="1916832"/>
              <a:ext cx="3456384" cy="360040"/>
            </a:xfrm>
            <a:prstGeom prst="rect">
              <a:avLst/>
            </a:prstGeom>
            <a:grpFill/>
            <a:ln w="12700">
              <a:solidFill>
                <a:srgbClr val="F8B6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490602D-7216-4BFB-91E0-D0E2A56C2097}"/>
                </a:ext>
              </a:extLst>
            </p:cNvPr>
            <p:cNvSpPr txBox="1"/>
            <p:nvPr/>
          </p:nvSpPr>
          <p:spPr>
            <a:xfrm>
              <a:off x="5422214" y="1914614"/>
              <a:ext cx="2016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  <a:latin typeface="微軟正黑體" pitchFamily="34" charset="-120"/>
                  <a:ea typeface="微軟正黑體" pitchFamily="34" charset="-120"/>
                </a:rPr>
                <a:t>結合比價及訂購功能</a:t>
              </a:r>
              <a:endParaRPr lang="zh-TW" altLang="en-US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121238E-C0BF-45E3-A6DB-04A6FDEAE189}"/>
              </a:ext>
            </a:extLst>
          </p:cNvPr>
          <p:cNvGrpSpPr/>
          <p:nvPr/>
        </p:nvGrpSpPr>
        <p:grpSpPr>
          <a:xfrm>
            <a:off x="5395494" y="4725144"/>
            <a:ext cx="3877985" cy="369332"/>
            <a:chOff x="5422215" y="1916832"/>
            <a:chExt cx="3456384" cy="369332"/>
          </a:xfrm>
          <a:solidFill>
            <a:srgbClr val="F8B600"/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643CABA-41DF-443D-A638-380E08CDAD71}"/>
                </a:ext>
              </a:extLst>
            </p:cNvPr>
            <p:cNvSpPr/>
            <p:nvPr/>
          </p:nvSpPr>
          <p:spPr>
            <a:xfrm>
              <a:off x="5422215" y="1916832"/>
              <a:ext cx="3456384" cy="360040"/>
            </a:xfrm>
            <a:prstGeom prst="rect">
              <a:avLst/>
            </a:prstGeom>
            <a:grpFill/>
            <a:ln w="12700">
              <a:solidFill>
                <a:srgbClr val="F8B6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2EE3729-9CDF-4325-AC26-06EA61AE2DC3}"/>
                </a:ext>
              </a:extLst>
            </p:cNvPr>
            <p:cNvSpPr txBox="1"/>
            <p:nvPr/>
          </p:nvSpPr>
          <p:spPr>
            <a:xfrm>
              <a:off x="5430385" y="1916832"/>
              <a:ext cx="18104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  <a:latin typeface="微軟正黑體" pitchFamily="34" charset="-120"/>
                  <a:ea typeface="微軟正黑體" pitchFamily="34" charset="-120"/>
                </a:rPr>
                <a:t>增設會員評論功能</a:t>
              </a:r>
              <a:endParaRPr lang="zh-TW" altLang="en-US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D92308A-08CE-4410-AFDA-02F7D0C347F2}"/>
              </a:ext>
            </a:extLst>
          </p:cNvPr>
          <p:cNvGrpSpPr/>
          <p:nvPr/>
        </p:nvGrpSpPr>
        <p:grpSpPr>
          <a:xfrm>
            <a:off x="5395493" y="1695685"/>
            <a:ext cx="3877987" cy="375389"/>
            <a:chOff x="5422213" y="1916832"/>
            <a:chExt cx="3456386" cy="375389"/>
          </a:xfrm>
          <a:solidFill>
            <a:srgbClr val="F8B600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CAB9946-6FB3-4F4D-B87A-D4096F3A27DF}"/>
                </a:ext>
              </a:extLst>
            </p:cNvPr>
            <p:cNvSpPr/>
            <p:nvPr/>
          </p:nvSpPr>
          <p:spPr>
            <a:xfrm>
              <a:off x="5422215" y="1916832"/>
              <a:ext cx="3456384" cy="360040"/>
            </a:xfrm>
            <a:prstGeom prst="rect">
              <a:avLst/>
            </a:prstGeom>
            <a:grpFill/>
            <a:ln w="12700">
              <a:solidFill>
                <a:srgbClr val="F8B6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78987274-5400-4B47-97EB-48B3A6C66A17}"/>
                </a:ext>
              </a:extLst>
            </p:cNvPr>
            <p:cNvSpPr txBox="1"/>
            <p:nvPr/>
          </p:nvSpPr>
          <p:spPr>
            <a:xfrm>
              <a:off x="5422213" y="1922889"/>
              <a:ext cx="2221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  <a:latin typeface="微軟正黑體" pitchFamily="34" charset="-120"/>
                  <a:ea typeface="微軟正黑體" pitchFamily="34" charset="-120"/>
                </a:rPr>
                <a:t>解封後，出國人數增加</a:t>
              </a:r>
              <a:endParaRPr lang="zh-TW" altLang="en-US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107D108-FFC4-4901-80F5-D04853CF56AB}"/>
              </a:ext>
            </a:extLst>
          </p:cNvPr>
          <p:cNvGrpSpPr/>
          <p:nvPr/>
        </p:nvGrpSpPr>
        <p:grpSpPr>
          <a:xfrm>
            <a:off x="4510506" y="1875705"/>
            <a:ext cx="884989" cy="806925"/>
            <a:chOff x="4510506" y="1875705"/>
            <a:chExt cx="884989" cy="806925"/>
          </a:xfrm>
          <a:solidFill>
            <a:srgbClr val="F8B600"/>
          </a:solidFill>
        </p:grpSpPr>
        <p:cxnSp>
          <p:nvCxnSpPr>
            <p:cNvPr id="28" name="接點: 肘形 27">
              <a:extLst>
                <a:ext uri="{FF2B5EF4-FFF2-40B4-BE49-F238E27FC236}">
                  <a16:creationId xmlns:a16="http://schemas.microsoft.com/office/drawing/2014/main" id="{E7973E6E-7BF0-40F9-B28A-5892E86C8DAE}"/>
                </a:ext>
              </a:extLst>
            </p:cNvPr>
            <p:cNvCxnSpPr>
              <a:stCxn id="2" idx="3"/>
              <a:endCxn id="15" idx="1"/>
            </p:cNvCxnSpPr>
            <p:nvPr/>
          </p:nvCxnSpPr>
          <p:spPr>
            <a:xfrm flipV="1">
              <a:off x="4510506" y="1875705"/>
              <a:ext cx="884989" cy="410881"/>
            </a:xfrm>
            <a:prstGeom prst="bentConnector3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接點: 肘形 29">
              <a:extLst>
                <a:ext uri="{FF2B5EF4-FFF2-40B4-BE49-F238E27FC236}">
                  <a16:creationId xmlns:a16="http://schemas.microsoft.com/office/drawing/2014/main" id="{7F05E57F-9BF3-470B-9062-29BD39E7B0A8}"/>
                </a:ext>
              </a:extLst>
            </p:cNvPr>
            <p:cNvCxnSpPr>
              <a:stCxn id="2" idx="3"/>
              <a:endCxn id="18" idx="1"/>
            </p:cNvCxnSpPr>
            <p:nvPr/>
          </p:nvCxnSpPr>
          <p:spPr>
            <a:xfrm>
              <a:off x="4510506" y="2286586"/>
              <a:ext cx="884989" cy="396044"/>
            </a:xfrm>
            <a:prstGeom prst="bentConnector3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263B2FDB-62D1-410F-B871-76B129F8FAED}"/>
              </a:ext>
            </a:extLst>
          </p:cNvPr>
          <p:cNvGrpSpPr/>
          <p:nvPr/>
        </p:nvGrpSpPr>
        <p:grpSpPr>
          <a:xfrm>
            <a:off x="4510505" y="4109971"/>
            <a:ext cx="884990" cy="795193"/>
            <a:chOff x="4510506" y="1880019"/>
            <a:chExt cx="884990" cy="795193"/>
          </a:xfrm>
          <a:solidFill>
            <a:srgbClr val="F8B600"/>
          </a:solidFill>
        </p:grpSpPr>
        <p:cxnSp>
          <p:nvCxnSpPr>
            <p:cNvPr id="33" name="接點: 肘形 32">
              <a:extLst>
                <a:ext uri="{FF2B5EF4-FFF2-40B4-BE49-F238E27FC236}">
                  <a16:creationId xmlns:a16="http://schemas.microsoft.com/office/drawing/2014/main" id="{860EF465-55EE-442A-BA24-835ED4426293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V="1">
              <a:off x="4510506" y="1880019"/>
              <a:ext cx="884990" cy="406568"/>
            </a:xfrm>
            <a:prstGeom prst="bentConnector3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接點: 肘形 33">
              <a:extLst>
                <a:ext uri="{FF2B5EF4-FFF2-40B4-BE49-F238E27FC236}">
                  <a16:creationId xmlns:a16="http://schemas.microsoft.com/office/drawing/2014/main" id="{2B5A7345-C4D7-4F3F-AE62-AF241C505EED}"/>
                </a:ext>
              </a:extLst>
            </p:cNvPr>
            <p:cNvCxnSpPr>
              <a:cxnSpLocks/>
              <a:stCxn id="20" idx="3"/>
              <a:endCxn id="25" idx="1"/>
            </p:cNvCxnSpPr>
            <p:nvPr/>
          </p:nvCxnSpPr>
          <p:spPr>
            <a:xfrm>
              <a:off x="4510507" y="2279168"/>
              <a:ext cx="884988" cy="396044"/>
            </a:xfrm>
            <a:prstGeom prst="bentConnector3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D4461C8C-63D1-499D-92DF-7A84C6DAE923}"/>
              </a:ext>
            </a:extLst>
          </p:cNvPr>
          <p:cNvCxnSpPr>
            <a:cxnSpLocks/>
          </p:cNvCxnSpPr>
          <p:nvPr/>
        </p:nvCxnSpPr>
        <p:spPr>
          <a:xfrm>
            <a:off x="2792760" y="2682630"/>
            <a:ext cx="0" cy="1410891"/>
          </a:xfrm>
          <a:prstGeom prst="straightConnector1">
            <a:avLst/>
          </a:prstGeom>
          <a:ln w="76200">
            <a:solidFill>
              <a:srgbClr val="F8B6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47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097C289-206C-8B73-4CFF-099019B82C13}"/>
              </a:ext>
            </a:extLst>
          </p:cNvPr>
          <p:cNvSpPr/>
          <p:nvPr/>
        </p:nvSpPr>
        <p:spPr>
          <a:xfrm>
            <a:off x="336436" y="6428714"/>
            <a:ext cx="2082087" cy="247165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CDB2787-DF4D-2FD5-D300-7C318F4C51EA}"/>
              </a:ext>
            </a:extLst>
          </p:cNvPr>
          <p:cNvSpPr txBox="1"/>
          <p:nvPr/>
        </p:nvSpPr>
        <p:spPr>
          <a:xfrm>
            <a:off x="3841761" y="110667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TW" altLang="en-US" sz="3600" b="1" spc="300" dirty="0">
                <a:solidFill>
                  <a:srgbClr val="FFC000"/>
                </a:solidFill>
                <a:latin typeface="+mn-ea"/>
                <a:cs typeface="+mj-cs"/>
              </a:rPr>
              <a:t>網站架構</a:t>
            </a:r>
          </a:p>
        </p:txBody>
      </p:sp>
      <p:grpSp>
        <p:nvGrpSpPr>
          <p:cNvPr id="462" name="群組 461">
            <a:extLst>
              <a:ext uri="{FF2B5EF4-FFF2-40B4-BE49-F238E27FC236}">
                <a16:creationId xmlns:a16="http://schemas.microsoft.com/office/drawing/2014/main" id="{8840C5DF-87E9-B262-996B-447052E46AA2}"/>
              </a:ext>
            </a:extLst>
          </p:cNvPr>
          <p:cNvGrpSpPr/>
          <p:nvPr/>
        </p:nvGrpSpPr>
        <p:grpSpPr>
          <a:xfrm>
            <a:off x="498311" y="1124744"/>
            <a:ext cx="8909378" cy="4966280"/>
            <a:chOff x="531797" y="894329"/>
            <a:chExt cx="8909378" cy="496628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BD4E86D-CFF8-4662-963D-01E417BF172C}"/>
                </a:ext>
              </a:extLst>
            </p:cNvPr>
            <p:cNvSpPr/>
            <p:nvPr/>
          </p:nvSpPr>
          <p:spPr>
            <a:xfrm>
              <a:off x="4001980" y="894329"/>
              <a:ext cx="2032370" cy="580279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>
                      <a:lumMod val="50000"/>
                    </a:schemeClr>
                  </a:solidFill>
                </a:rPr>
                <a:t>Travel Nest</a:t>
              </a:r>
              <a:endParaRPr lang="zh-TW" altLang="en-US" sz="2400" b="1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5497E10-F227-44FC-BC66-2DD7BD2E7950}"/>
                </a:ext>
              </a:extLst>
            </p:cNvPr>
            <p:cNvSpPr/>
            <p:nvPr/>
          </p:nvSpPr>
          <p:spPr>
            <a:xfrm>
              <a:off x="611555" y="1989203"/>
              <a:ext cx="1021464" cy="440707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首頁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9D0DAB1-BE37-4C35-A31B-EC0C4C01C4EB}"/>
                </a:ext>
              </a:extLst>
            </p:cNvPr>
            <p:cNvSpPr/>
            <p:nvPr/>
          </p:nvSpPr>
          <p:spPr>
            <a:xfrm>
              <a:off x="2147405" y="1980021"/>
              <a:ext cx="1021465" cy="440706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關於我們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5EB941F-9B0F-43D3-85EE-F2515CA2C3E6}"/>
                </a:ext>
              </a:extLst>
            </p:cNvPr>
            <p:cNvSpPr/>
            <p:nvPr/>
          </p:nvSpPr>
          <p:spPr>
            <a:xfrm>
              <a:off x="777787" y="2792952"/>
              <a:ext cx="1079137" cy="3396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主視覺</a:t>
              </a:r>
            </a:p>
          </p:txBody>
        </p:sp>
        <p:cxnSp>
          <p:nvCxnSpPr>
            <p:cNvPr id="4" name="接點: 肘形 3">
              <a:extLst>
                <a:ext uri="{FF2B5EF4-FFF2-40B4-BE49-F238E27FC236}">
                  <a16:creationId xmlns:a16="http://schemas.microsoft.com/office/drawing/2014/main" id="{AE1C0086-33E4-4A4A-932F-5DE3764F2F7E}"/>
                </a:ext>
              </a:extLst>
            </p:cNvPr>
            <p:cNvCxnSpPr>
              <a:cxnSpLocks/>
              <a:stCxn id="2" idx="2"/>
              <a:endCxn id="21" idx="0"/>
            </p:cNvCxnSpPr>
            <p:nvPr/>
          </p:nvCxnSpPr>
          <p:spPr>
            <a:xfrm rot="5400000">
              <a:off x="2812929" y="-216034"/>
              <a:ext cx="514595" cy="3895878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E6D3DE1-C797-4520-9BD6-1DEA1B2797B0}"/>
                </a:ext>
              </a:extLst>
            </p:cNvPr>
            <p:cNvSpPr/>
            <p:nvPr/>
          </p:nvSpPr>
          <p:spPr>
            <a:xfrm>
              <a:off x="772569" y="3447654"/>
              <a:ext cx="1079137" cy="344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機票搜尋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082CD0B-9D5F-4010-ABED-931DEC34A5E5}"/>
                </a:ext>
              </a:extLst>
            </p:cNvPr>
            <p:cNvSpPr/>
            <p:nvPr/>
          </p:nvSpPr>
          <p:spPr>
            <a:xfrm>
              <a:off x="763810" y="4121986"/>
              <a:ext cx="1079137" cy="344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熱門景點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20B8D31-2E41-4542-B5D1-762B7EE788D9}"/>
                </a:ext>
              </a:extLst>
            </p:cNvPr>
            <p:cNvSpPr/>
            <p:nvPr/>
          </p:nvSpPr>
          <p:spPr>
            <a:xfrm>
              <a:off x="756236" y="4812958"/>
              <a:ext cx="1079137" cy="3258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旅遊新聞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20B16E3-23B3-4EDA-BE71-9FD0D4ECE38A}"/>
                </a:ext>
              </a:extLst>
            </p:cNvPr>
            <p:cNvSpPr/>
            <p:nvPr/>
          </p:nvSpPr>
          <p:spPr>
            <a:xfrm>
              <a:off x="756235" y="5534728"/>
              <a:ext cx="1079137" cy="3258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最新評論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50D9B46-3A17-4680-AF01-8F72EFF170AE}"/>
                </a:ext>
              </a:extLst>
            </p:cNvPr>
            <p:cNvSpPr/>
            <p:nvPr/>
          </p:nvSpPr>
          <p:spPr>
            <a:xfrm>
              <a:off x="2278384" y="2776209"/>
              <a:ext cx="1072702" cy="3396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公司簡介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5635D77-B2A6-484A-9293-F3002310F085}"/>
                </a:ext>
              </a:extLst>
            </p:cNvPr>
            <p:cNvSpPr/>
            <p:nvPr/>
          </p:nvSpPr>
          <p:spPr>
            <a:xfrm>
              <a:off x="2265876" y="3450290"/>
              <a:ext cx="1072702" cy="3396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經營理念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44FE0F3-08EF-4831-9394-D193E48D7B17}"/>
                </a:ext>
              </a:extLst>
            </p:cNvPr>
            <p:cNvSpPr/>
            <p:nvPr/>
          </p:nvSpPr>
          <p:spPr>
            <a:xfrm>
              <a:off x="2260300" y="4125815"/>
              <a:ext cx="1072702" cy="3396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網站聲明</a:t>
              </a:r>
            </a:p>
          </p:txBody>
        </p:sp>
        <p:cxnSp>
          <p:nvCxnSpPr>
            <p:cNvPr id="57" name="接點: 肘形 56">
              <a:extLst>
                <a:ext uri="{FF2B5EF4-FFF2-40B4-BE49-F238E27FC236}">
                  <a16:creationId xmlns:a16="http://schemas.microsoft.com/office/drawing/2014/main" id="{0F594C08-89A2-4131-87FB-4A5888AFDB05}"/>
                </a:ext>
              </a:extLst>
            </p:cNvPr>
            <p:cNvCxnSpPr>
              <a:cxnSpLocks/>
              <a:stCxn id="30" idx="2"/>
              <a:endCxn id="52" idx="1"/>
            </p:cNvCxnSpPr>
            <p:nvPr/>
          </p:nvCxnSpPr>
          <p:spPr>
            <a:xfrm rot="5400000">
              <a:off x="2205619" y="2493492"/>
              <a:ext cx="525284" cy="379754"/>
            </a:xfrm>
            <a:prstGeom prst="bentConnector4">
              <a:avLst>
                <a:gd name="adj1" fmla="val 33837"/>
                <a:gd name="adj2" fmla="val 160197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接點: 肘形 59">
              <a:extLst>
                <a:ext uri="{FF2B5EF4-FFF2-40B4-BE49-F238E27FC236}">
                  <a16:creationId xmlns:a16="http://schemas.microsoft.com/office/drawing/2014/main" id="{BDE57EC9-B2E0-4C77-9430-295B5BC1B791}"/>
                </a:ext>
              </a:extLst>
            </p:cNvPr>
            <p:cNvCxnSpPr>
              <a:cxnSpLocks/>
              <a:stCxn id="2" idx="2"/>
              <a:endCxn id="30" idx="0"/>
            </p:cNvCxnSpPr>
            <p:nvPr/>
          </p:nvCxnSpPr>
          <p:spPr>
            <a:xfrm rot="5400000">
              <a:off x="3585446" y="547301"/>
              <a:ext cx="505413" cy="236002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B2F582C-3260-42F5-B8BA-2723034CF33D}"/>
                </a:ext>
              </a:extLst>
            </p:cNvPr>
            <p:cNvSpPr/>
            <p:nvPr/>
          </p:nvSpPr>
          <p:spPr>
            <a:xfrm>
              <a:off x="3637204" y="1988837"/>
              <a:ext cx="1011861" cy="440704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搜尋</a:t>
              </a: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77A7FAF-D07A-4990-8C5A-833944CC4E27}"/>
                </a:ext>
              </a:extLst>
            </p:cNvPr>
            <p:cNvSpPr/>
            <p:nvPr/>
          </p:nvSpPr>
          <p:spPr>
            <a:xfrm>
              <a:off x="5191969" y="1988837"/>
              <a:ext cx="1011861" cy="440703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評論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94FEEAE-8172-4747-82D7-C707E6D1E9A6}"/>
                </a:ext>
              </a:extLst>
            </p:cNvPr>
            <p:cNvSpPr/>
            <p:nvPr/>
          </p:nvSpPr>
          <p:spPr>
            <a:xfrm>
              <a:off x="8362343" y="1991201"/>
              <a:ext cx="1011861" cy="440699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會員專區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16E52AC3-2B30-41EA-A4CF-9D67562215A0}"/>
                </a:ext>
              </a:extLst>
            </p:cNvPr>
            <p:cNvSpPr/>
            <p:nvPr/>
          </p:nvSpPr>
          <p:spPr>
            <a:xfrm>
              <a:off x="3777793" y="2772160"/>
              <a:ext cx="1072702" cy="3396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目的地選擇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6036B21-A793-4BA2-AECC-3A1AD48C4929}"/>
                </a:ext>
              </a:extLst>
            </p:cNvPr>
            <p:cNvSpPr/>
            <p:nvPr/>
          </p:nvSpPr>
          <p:spPr>
            <a:xfrm>
              <a:off x="3765285" y="3493531"/>
              <a:ext cx="1072702" cy="316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日期選擇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84ABEF9-0D5B-4F4C-A0E8-C04707B64AED}"/>
                </a:ext>
              </a:extLst>
            </p:cNvPr>
            <p:cNvSpPr/>
            <p:nvPr/>
          </p:nvSpPr>
          <p:spPr>
            <a:xfrm>
              <a:off x="3759929" y="4119170"/>
              <a:ext cx="1072702" cy="34665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航空選擇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18FBAE7-1388-403D-9893-F13C89BA915E}"/>
                </a:ext>
              </a:extLst>
            </p:cNvPr>
            <p:cNvSpPr/>
            <p:nvPr/>
          </p:nvSpPr>
          <p:spPr>
            <a:xfrm>
              <a:off x="5278878" y="2761749"/>
              <a:ext cx="986894" cy="3500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評論欣賞</a:t>
              </a: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F5619442-E678-4A5D-8312-CE2D797E8C9D}"/>
                </a:ext>
              </a:extLst>
            </p:cNvPr>
            <p:cNvSpPr/>
            <p:nvPr/>
          </p:nvSpPr>
          <p:spPr>
            <a:xfrm>
              <a:off x="5301143" y="3477960"/>
              <a:ext cx="986894" cy="316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評論搜尋</a:t>
              </a: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5AD2FCCF-502F-43D8-933D-762FDEC54D4E}"/>
                </a:ext>
              </a:extLst>
            </p:cNvPr>
            <p:cNvSpPr/>
            <p:nvPr/>
          </p:nvSpPr>
          <p:spPr>
            <a:xfrm>
              <a:off x="5301143" y="4132863"/>
              <a:ext cx="986895" cy="3325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評論撰寫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4B65028-8138-4336-9A33-28819B2FE4B4}"/>
                </a:ext>
              </a:extLst>
            </p:cNvPr>
            <p:cNvSpPr/>
            <p:nvPr/>
          </p:nvSpPr>
          <p:spPr>
            <a:xfrm>
              <a:off x="8416684" y="2761749"/>
              <a:ext cx="986894" cy="3500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帳號資料</a:t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953DA09-E787-49F6-8130-158AF714431C}"/>
                </a:ext>
              </a:extLst>
            </p:cNvPr>
            <p:cNvSpPr/>
            <p:nvPr/>
          </p:nvSpPr>
          <p:spPr>
            <a:xfrm>
              <a:off x="8454281" y="3429382"/>
              <a:ext cx="986894" cy="3605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訂單管理</a:t>
              </a: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5776465-04F1-47D5-AA44-A3E063D9E499}"/>
                </a:ext>
              </a:extLst>
            </p:cNvPr>
            <p:cNvSpPr/>
            <p:nvPr/>
          </p:nvSpPr>
          <p:spPr>
            <a:xfrm>
              <a:off x="8454281" y="4138490"/>
              <a:ext cx="986894" cy="326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我的評論</a:t>
              </a:r>
            </a:p>
          </p:txBody>
        </p:sp>
        <p:cxnSp>
          <p:nvCxnSpPr>
            <p:cNvPr id="84" name="接點: 肘形 83">
              <a:extLst>
                <a:ext uri="{FF2B5EF4-FFF2-40B4-BE49-F238E27FC236}">
                  <a16:creationId xmlns:a16="http://schemas.microsoft.com/office/drawing/2014/main" id="{DAB78EE9-3E3A-49C7-84DD-02F7DBDB0909}"/>
                </a:ext>
              </a:extLst>
            </p:cNvPr>
            <p:cNvCxnSpPr>
              <a:cxnSpLocks/>
              <a:stCxn id="2" idx="2"/>
              <a:endCxn id="63" idx="0"/>
            </p:cNvCxnSpPr>
            <p:nvPr/>
          </p:nvCxnSpPr>
          <p:spPr>
            <a:xfrm rot="5400000">
              <a:off x="4323536" y="1294207"/>
              <a:ext cx="514229" cy="87503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接點: 肘形 87">
              <a:extLst>
                <a:ext uri="{FF2B5EF4-FFF2-40B4-BE49-F238E27FC236}">
                  <a16:creationId xmlns:a16="http://schemas.microsoft.com/office/drawing/2014/main" id="{2F6C6868-F207-4E72-A167-D5EECDE83B31}"/>
                </a:ext>
              </a:extLst>
            </p:cNvPr>
            <p:cNvCxnSpPr>
              <a:cxnSpLocks/>
              <a:stCxn id="2" idx="2"/>
              <a:endCxn id="64" idx="0"/>
            </p:cNvCxnSpPr>
            <p:nvPr/>
          </p:nvCxnSpPr>
          <p:spPr>
            <a:xfrm rot="16200000" flipH="1">
              <a:off x="5100918" y="1391854"/>
              <a:ext cx="514229" cy="67973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接點: 肘形 91">
              <a:extLst>
                <a:ext uri="{FF2B5EF4-FFF2-40B4-BE49-F238E27FC236}">
                  <a16:creationId xmlns:a16="http://schemas.microsoft.com/office/drawing/2014/main" id="{BF7FD127-CA44-4DE7-A0E4-DAD4178747C9}"/>
                </a:ext>
              </a:extLst>
            </p:cNvPr>
            <p:cNvCxnSpPr>
              <a:cxnSpLocks/>
              <a:stCxn id="2" idx="2"/>
              <a:endCxn id="65" idx="0"/>
            </p:cNvCxnSpPr>
            <p:nvPr/>
          </p:nvCxnSpPr>
          <p:spPr>
            <a:xfrm rot="16200000" flipH="1">
              <a:off x="6684923" y="-192151"/>
              <a:ext cx="516593" cy="385010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接點: 肘形 99">
              <a:extLst>
                <a:ext uri="{FF2B5EF4-FFF2-40B4-BE49-F238E27FC236}">
                  <a16:creationId xmlns:a16="http://schemas.microsoft.com/office/drawing/2014/main" id="{6FDC9E11-DF39-4E31-9DC7-B03F4F8BC7EA}"/>
                </a:ext>
              </a:extLst>
            </p:cNvPr>
            <p:cNvCxnSpPr>
              <a:cxnSpLocks/>
              <a:stCxn id="63" idx="2"/>
              <a:endCxn id="68" idx="1"/>
            </p:cNvCxnSpPr>
            <p:nvPr/>
          </p:nvCxnSpPr>
          <p:spPr>
            <a:xfrm rot="5400000">
              <a:off x="3704254" y="2503080"/>
              <a:ext cx="512421" cy="365342"/>
            </a:xfrm>
            <a:prstGeom prst="bentConnector4">
              <a:avLst>
                <a:gd name="adj1" fmla="val 33431"/>
                <a:gd name="adj2" fmla="val 162572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接點: 肘形 128">
              <a:extLst>
                <a:ext uri="{FF2B5EF4-FFF2-40B4-BE49-F238E27FC236}">
                  <a16:creationId xmlns:a16="http://schemas.microsoft.com/office/drawing/2014/main" id="{70741AF0-BC1B-4ADC-83DB-43C2E0ED61EC}"/>
                </a:ext>
              </a:extLst>
            </p:cNvPr>
            <p:cNvCxnSpPr>
              <a:cxnSpLocks/>
              <a:stCxn id="64" idx="2"/>
              <a:endCxn id="73" idx="1"/>
            </p:cNvCxnSpPr>
            <p:nvPr/>
          </p:nvCxnSpPr>
          <p:spPr>
            <a:xfrm rot="5400000">
              <a:off x="5234781" y="2473637"/>
              <a:ext cx="507217" cy="419022"/>
            </a:xfrm>
            <a:prstGeom prst="bentConnector4">
              <a:avLst>
                <a:gd name="adj1" fmla="val 32748"/>
                <a:gd name="adj2" fmla="val 154556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接點: 肘形 144">
              <a:extLst>
                <a:ext uri="{FF2B5EF4-FFF2-40B4-BE49-F238E27FC236}">
                  <a16:creationId xmlns:a16="http://schemas.microsoft.com/office/drawing/2014/main" id="{DD1F96C8-C9B3-453C-9470-4349309DFC61}"/>
                </a:ext>
              </a:extLst>
            </p:cNvPr>
            <p:cNvCxnSpPr>
              <a:cxnSpLocks/>
              <a:stCxn id="65" idx="2"/>
              <a:endCxn id="78" idx="1"/>
            </p:cNvCxnSpPr>
            <p:nvPr/>
          </p:nvCxnSpPr>
          <p:spPr>
            <a:xfrm rot="5400000">
              <a:off x="8390051" y="2458533"/>
              <a:ext cx="504857" cy="451590"/>
            </a:xfrm>
            <a:prstGeom prst="bentConnector4">
              <a:avLst>
                <a:gd name="adj1" fmla="val 32667"/>
                <a:gd name="adj2" fmla="val 150621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353A8178-AE3A-4786-AD19-5AC72FF20B76}"/>
                </a:ext>
              </a:extLst>
            </p:cNvPr>
            <p:cNvSpPr/>
            <p:nvPr/>
          </p:nvSpPr>
          <p:spPr>
            <a:xfrm>
              <a:off x="6746734" y="1988842"/>
              <a:ext cx="1011861" cy="440699"/>
            </a:xfrm>
            <a:prstGeom prst="rect">
              <a:avLst/>
            </a:prstGeom>
            <a:solidFill>
              <a:srgbClr val="F8B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聯絡我們</a:t>
              </a: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7A47F64E-D7E5-4BCF-8B7D-CD018633DBFA}"/>
                </a:ext>
              </a:extLst>
            </p:cNvPr>
            <p:cNvSpPr/>
            <p:nvPr/>
          </p:nvSpPr>
          <p:spPr>
            <a:xfrm>
              <a:off x="6771701" y="2768769"/>
              <a:ext cx="986894" cy="3500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>
                      <a:lumMod val="50000"/>
                    </a:schemeClr>
                  </a:solidFill>
                </a:rPr>
                <a:t>意見提問</a:t>
              </a:r>
            </a:p>
          </p:txBody>
        </p:sp>
        <p:cxnSp>
          <p:nvCxnSpPr>
            <p:cNvPr id="159" name="接點: 肘形 158">
              <a:extLst>
                <a:ext uri="{FF2B5EF4-FFF2-40B4-BE49-F238E27FC236}">
                  <a16:creationId xmlns:a16="http://schemas.microsoft.com/office/drawing/2014/main" id="{3FD7AF5F-DD2B-4FF4-866C-800850D1C18D}"/>
                </a:ext>
              </a:extLst>
            </p:cNvPr>
            <p:cNvCxnSpPr>
              <a:cxnSpLocks/>
              <a:stCxn id="153" idx="2"/>
              <a:endCxn id="155" idx="1"/>
            </p:cNvCxnSpPr>
            <p:nvPr/>
          </p:nvCxnSpPr>
          <p:spPr>
            <a:xfrm rot="5400000">
              <a:off x="6755065" y="2446177"/>
              <a:ext cx="514236" cy="480964"/>
            </a:xfrm>
            <a:prstGeom prst="bentConnector4">
              <a:avLst>
                <a:gd name="adj1" fmla="val 32984"/>
                <a:gd name="adj2" fmla="val 14753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接點: 肘形 133">
              <a:extLst>
                <a:ext uri="{FF2B5EF4-FFF2-40B4-BE49-F238E27FC236}">
                  <a16:creationId xmlns:a16="http://schemas.microsoft.com/office/drawing/2014/main" id="{F983705D-B269-1D53-A185-B108AEC35905}"/>
                </a:ext>
              </a:extLst>
            </p:cNvPr>
            <p:cNvCxnSpPr>
              <a:cxnSpLocks/>
              <a:endCxn id="153" idx="0"/>
            </p:cNvCxnSpPr>
            <p:nvPr/>
          </p:nvCxnSpPr>
          <p:spPr>
            <a:xfrm rot="16200000" flipH="1">
              <a:off x="7123720" y="1859896"/>
              <a:ext cx="257889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接點: 肘形 193">
              <a:extLst>
                <a:ext uri="{FF2B5EF4-FFF2-40B4-BE49-F238E27FC236}">
                  <a16:creationId xmlns:a16="http://schemas.microsoft.com/office/drawing/2014/main" id="{CA4AA666-4F54-354E-3190-207BC5C9ADEE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 rot="16200000" flipH="1">
              <a:off x="1819869" y="3174085"/>
              <a:ext cx="678130" cy="213884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接點: 肘形 197">
              <a:extLst>
                <a:ext uri="{FF2B5EF4-FFF2-40B4-BE49-F238E27FC236}">
                  <a16:creationId xmlns:a16="http://schemas.microsoft.com/office/drawing/2014/main" id="{AFE903B6-A685-A41C-C539-EAE17C7C2C1F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rot="16200000" flipH="1">
              <a:off x="1820519" y="3855836"/>
              <a:ext cx="678162" cy="201400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接點: 肘形 259">
              <a:extLst>
                <a:ext uri="{FF2B5EF4-FFF2-40B4-BE49-F238E27FC236}">
                  <a16:creationId xmlns:a16="http://schemas.microsoft.com/office/drawing/2014/main" id="{9AAEF257-093D-1ED9-99AD-8E0927322C34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 rot="16200000" flipH="1">
              <a:off x="3306341" y="3192824"/>
              <a:ext cx="707993" cy="209895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接點: 肘形 263">
              <a:extLst>
                <a:ext uri="{FF2B5EF4-FFF2-40B4-BE49-F238E27FC236}">
                  <a16:creationId xmlns:a16="http://schemas.microsoft.com/office/drawing/2014/main" id="{AC4AE9B1-7836-8D22-A8EA-865DD4A07C03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rot="16200000" flipH="1">
              <a:off x="3339101" y="3871668"/>
              <a:ext cx="640728" cy="200927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接點: 肘形 277">
              <a:extLst>
                <a:ext uri="{FF2B5EF4-FFF2-40B4-BE49-F238E27FC236}">
                  <a16:creationId xmlns:a16="http://schemas.microsoft.com/office/drawing/2014/main" id="{1FDB834E-E02A-3DEB-85FF-4C614F228627}"/>
                </a:ext>
              </a:extLst>
            </p:cNvPr>
            <p:cNvCxnSpPr>
              <a:cxnSpLocks/>
              <a:endCxn id="74" idx="1"/>
            </p:cNvCxnSpPr>
            <p:nvPr/>
          </p:nvCxnSpPr>
          <p:spPr>
            <a:xfrm rot="16200000" flipH="1">
              <a:off x="4828249" y="3163304"/>
              <a:ext cx="699442" cy="246345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接點: 肘形 279">
              <a:extLst>
                <a:ext uri="{FF2B5EF4-FFF2-40B4-BE49-F238E27FC236}">
                  <a16:creationId xmlns:a16="http://schemas.microsoft.com/office/drawing/2014/main" id="{7565E5BF-76CC-DE44-92FD-008E746E5227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rot="16200000" flipH="1">
              <a:off x="4838451" y="3836449"/>
              <a:ext cx="682870" cy="242513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接點: 肘形 286">
              <a:extLst>
                <a:ext uri="{FF2B5EF4-FFF2-40B4-BE49-F238E27FC236}">
                  <a16:creationId xmlns:a16="http://schemas.microsoft.com/office/drawing/2014/main" id="{7584CD58-FF8F-D735-18FF-F3D9CEEE29B3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rot="5400000">
              <a:off x="726141" y="2235566"/>
              <a:ext cx="201803" cy="590491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接點: 肘形 288">
              <a:extLst>
                <a:ext uri="{FF2B5EF4-FFF2-40B4-BE49-F238E27FC236}">
                  <a16:creationId xmlns:a16="http://schemas.microsoft.com/office/drawing/2014/main" id="{CCB416CB-C00C-A09D-A913-00EFD32CB39C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 rot="16200000" flipH="1">
              <a:off x="313981" y="3161504"/>
              <a:ext cx="683336" cy="233840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接點: 肘形 293">
              <a:extLst>
                <a:ext uri="{FF2B5EF4-FFF2-40B4-BE49-F238E27FC236}">
                  <a16:creationId xmlns:a16="http://schemas.microsoft.com/office/drawing/2014/main" id="{33CBB761-FE2B-F7F1-64DA-1F2D8E34B185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16200000" flipH="1">
              <a:off x="311668" y="3842282"/>
              <a:ext cx="676968" cy="227316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接點: 肘形 296">
              <a:extLst>
                <a:ext uri="{FF2B5EF4-FFF2-40B4-BE49-F238E27FC236}">
                  <a16:creationId xmlns:a16="http://schemas.microsoft.com/office/drawing/2014/main" id="{3103C792-7DB5-C29D-3F03-E7095DECB53F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rot="16200000" flipH="1">
              <a:off x="294576" y="4514239"/>
              <a:ext cx="701106" cy="222214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接點: 肘形 305">
              <a:extLst>
                <a:ext uri="{FF2B5EF4-FFF2-40B4-BE49-F238E27FC236}">
                  <a16:creationId xmlns:a16="http://schemas.microsoft.com/office/drawing/2014/main" id="{B964D306-35F1-DD3D-6E50-09716B6B1ED8}"/>
                </a:ext>
              </a:extLst>
            </p:cNvPr>
            <p:cNvCxnSpPr>
              <a:cxnSpLocks/>
              <a:endCxn id="79" idx="1"/>
            </p:cNvCxnSpPr>
            <p:nvPr/>
          </p:nvCxnSpPr>
          <p:spPr>
            <a:xfrm rot="16200000" flipH="1">
              <a:off x="7973699" y="3129055"/>
              <a:ext cx="689859" cy="271306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接點: 肘形 307">
              <a:extLst>
                <a:ext uri="{FF2B5EF4-FFF2-40B4-BE49-F238E27FC236}">
                  <a16:creationId xmlns:a16="http://schemas.microsoft.com/office/drawing/2014/main" id="{EA8B9616-CF22-2E56-52C9-4FE54599D3D9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 rot="16200000" flipH="1">
              <a:off x="7975786" y="3823459"/>
              <a:ext cx="685685" cy="271306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接點: 肘形 430">
              <a:extLst>
                <a:ext uri="{FF2B5EF4-FFF2-40B4-BE49-F238E27FC236}">
                  <a16:creationId xmlns:a16="http://schemas.microsoft.com/office/drawing/2014/main" id="{D767F3CF-4D1E-FDBF-6ECD-AF0C3860AA83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rot="16200000" flipH="1">
              <a:off x="494920" y="2679887"/>
              <a:ext cx="326676" cy="239058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接點: 肘形 447">
              <a:extLst>
                <a:ext uri="{FF2B5EF4-FFF2-40B4-BE49-F238E27FC236}">
                  <a16:creationId xmlns:a16="http://schemas.microsoft.com/office/drawing/2014/main" id="{5092C2A8-D374-D442-4628-62C6B36A4597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16200000" flipH="1">
              <a:off x="282744" y="5224177"/>
              <a:ext cx="722545" cy="224438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30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0877-5FD2-BFFA-1C24-45E0AE5E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字方塊 33">
            <a:extLst>
              <a:ext uri="{FF2B5EF4-FFF2-40B4-BE49-F238E27FC236}">
                <a16:creationId xmlns:a16="http://schemas.microsoft.com/office/drawing/2014/main" id="{740DC029-9C39-5FF4-C057-702D642CEA35}"/>
              </a:ext>
            </a:extLst>
          </p:cNvPr>
          <p:cNvSpPr txBox="1"/>
          <p:nvPr/>
        </p:nvSpPr>
        <p:spPr>
          <a:xfrm>
            <a:off x="3860393" y="266866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TW" altLang="en-US" sz="3600" b="1" spc="300" dirty="0">
                <a:solidFill>
                  <a:srgbClr val="FFC000"/>
                </a:solidFill>
                <a:latin typeface="+mn-ea"/>
                <a:cs typeface="+mj-cs"/>
              </a:rPr>
              <a:t>技術運用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2ACFB7BA-ADE5-450F-810B-3B348B2F3569}"/>
              </a:ext>
            </a:extLst>
          </p:cNvPr>
          <p:cNvGrpSpPr/>
          <p:nvPr/>
        </p:nvGrpSpPr>
        <p:grpSpPr>
          <a:xfrm>
            <a:off x="565446" y="3880303"/>
            <a:ext cx="4392384" cy="936105"/>
            <a:chOff x="560512" y="2542514"/>
            <a:chExt cx="5119315" cy="93610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AABBC1-891A-446E-8D4E-C2B3AF386ECC}"/>
                </a:ext>
              </a:extLst>
            </p:cNvPr>
            <p:cNvSpPr/>
            <p:nvPr/>
          </p:nvSpPr>
          <p:spPr>
            <a:xfrm>
              <a:off x="560512" y="2542515"/>
              <a:ext cx="5119315" cy="93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箭號: 五邊形 40">
              <a:extLst>
                <a:ext uri="{FF2B5EF4-FFF2-40B4-BE49-F238E27FC236}">
                  <a16:creationId xmlns:a16="http://schemas.microsoft.com/office/drawing/2014/main" id="{ABA09B97-2C14-47EF-914E-FB471C07A3BB}"/>
                </a:ext>
              </a:extLst>
            </p:cNvPr>
            <p:cNvSpPr/>
            <p:nvPr/>
          </p:nvSpPr>
          <p:spPr>
            <a:xfrm>
              <a:off x="560512" y="2542514"/>
              <a:ext cx="1368152" cy="936103"/>
            </a:xfrm>
            <a:prstGeom prst="homePlat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前端</a:t>
              </a:r>
              <a:endParaRPr lang="en-US" altLang="zh-TW" b="1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開發</a:t>
              </a:r>
            </a:p>
          </p:txBody>
        </p: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F159C5BB-BF90-41E7-B1D1-7E88E83D5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2680" y="2718839"/>
              <a:ext cx="1602714" cy="610690"/>
            </a:xfrm>
            <a:prstGeom prst="rect">
              <a:avLst/>
            </a:prstGeom>
          </p:spPr>
        </p:pic>
      </p:grpSp>
      <p:pic>
        <p:nvPicPr>
          <p:cNvPr id="50" name="圖片 49">
            <a:extLst>
              <a:ext uri="{FF2B5EF4-FFF2-40B4-BE49-F238E27FC236}">
                <a16:creationId xmlns:a16="http://schemas.microsoft.com/office/drawing/2014/main" id="{1DC1D92B-D310-414F-AB8A-02DA56545F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09" y="3791506"/>
            <a:ext cx="1769408" cy="1203197"/>
          </a:xfrm>
          <a:prstGeom prst="rect">
            <a:avLst/>
          </a:prstGeom>
        </p:spPr>
      </p:pic>
      <p:grpSp>
        <p:nvGrpSpPr>
          <p:cNvPr id="65" name="群組 64">
            <a:extLst>
              <a:ext uri="{FF2B5EF4-FFF2-40B4-BE49-F238E27FC236}">
                <a16:creationId xmlns:a16="http://schemas.microsoft.com/office/drawing/2014/main" id="{76BF5C6F-704C-465E-9EE1-65A7EC40FB71}"/>
              </a:ext>
            </a:extLst>
          </p:cNvPr>
          <p:cNvGrpSpPr/>
          <p:nvPr/>
        </p:nvGrpSpPr>
        <p:grpSpPr>
          <a:xfrm>
            <a:off x="565342" y="2606993"/>
            <a:ext cx="8784976" cy="936111"/>
            <a:chOff x="560512" y="5327096"/>
            <a:chExt cx="8784976" cy="93611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FC299E8-0815-4237-A208-D26C310013C1}"/>
                </a:ext>
              </a:extLst>
            </p:cNvPr>
            <p:cNvSpPr/>
            <p:nvPr/>
          </p:nvSpPr>
          <p:spPr>
            <a:xfrm>
              <a:off x="560512" y="5327103"/>
              <a:ext cx="8784976" cy="93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箭號: 五邊形 44">
              <a:extLst>
                <a:ext uri="{FF2B5EF4-FFF2-40B4-BE49-F238E27FC236}">
                  <a16:creationId xmlns:a16="http://schemas.microsoft.com/office/drawing/2014/main" id="{E75F4B07-B968-4040-9E57-24C0DAF6C261}"/>
                </a:ext>
              </a:extLst>
            </p:cNvPr>
            <p:cNvSpPr/>
            <p:nvPr/>
          </p:nvSpPr>
          <p:spPr>
            <a:xfrm>
              <a:off x="560512" y="5327096"/>
              <a:ext cx="1172615" cy="936104"/>
            </a:xfrm>
            <a:prstGeom prst="homePlat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>
                      <a:lumMod val="50000"/>
                    </a:schemeClr>
                  </a:solidFill>
                </a:rPr>
                <a:t>API</a:t>
              </a:r>
              <a:endParaRPr lang="zh-TW" altLang="en-US" b="1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69B26AEC-09D4-4E3E-AE1A-878EF2E81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2923" y="5577022"/>
              <a:ext cx="1594958" cy="436252"/>
            </a:xfrm>
            <a:prstGeom prst="rect">
              <a:avLst/>
            </a:prstGeom>
          </p:spPr>
        </p:pic>
        <p:pic>
          <p:nvPicPr>
            <p:cNvPr id="61" name="圖片 60">
              <a:extLst>
                <a:ext uri="{FF2B5EF4-FFF2-40B4-BE49-F238E27FC236}">
                  <a16:creationId xmlns:a16="http://schemas.microsoft.com/office/drawing/2014/main" id="{38F58B3E-F510-4792-B61C-5D69364B4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370" y="5395312"/>
              <a:ext cx="1343649" cy="806189"/>
            </a:xfrm>
            <a:prstGeom prst="rect">
              <a:avLst/>
            </a:prstGeom>
          </p:spPr>
        </p:pic>
      </p:grpSp>
      <p:pic>
        <p:nvPicPr>
          <p:cNvPr id="64" name="圖片 63">
            <a:extLst>
              <a:ext uri="{FF2B5EF4-FFF2-40B4-BE49-F238E27FC236}">
                <a16:creationId xmlns:a16="http://schemas.microsoft.com/office/drawing/2014/main" id="{421B4FD1-CB38-4F79-9A31-18F65FF680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411" y="2306154"/>
            <a:ext cx="2388336" cy="1520679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B143D5AC-00BD-1666-AEFC-0B42BF495155}"/>
              </a:ext>
            </a:extLst>
          </p:cNvPr>
          <p:cNvGrpSpPr/>
          <p:nvPr/>
        </p:nvGrpSpPr>
        <p:grpSpPr>
          <a:xfrm>
            <a:off x="565342" y="5133877"/>
            <a:ext cx="4387658" cy="936105"/>
            <a:chOff x="5859822" y="4526650"/>
            <a:chExt cx="3490392" cy="936105"/>
          </a:xfrm>
        </p:grpSpPr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FC1A3771-387A-448A-BE71-01DA2DF335BD}"/>
                </a:ext>
              </a:extLst>
            </p:cNvPr>
            <p:cNvGrpSpPr/>
            <p:nvPr/>
          </p:nvGrpSpPr>
          <p:grpSpPr>
            <a:xfrm>
              <a:off x="5859822" y="4526650"/>
              <a:ext cx="3490392" cy="936105"/>
              <a:chOff x="560512" y="2542514"/>
              <a:chExt cx="5119315" cy="936105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9395EF7D-4AF2-4B33-A59E-87C16EA013FC}"/>
                  </a:ext>
                </a:extLst>
              </p:cNvPr>
              <p:cNvSpPr/>
              <p:nvPr/>
            </p:nvSpPr>
            <p:spPr>
              <a:xfrm>
                <a:off x="560512" y="2542515"/>
                <a:ext cx="5119315" cy="9361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箭號: 五邊形 67">
                <a:extLst>
                  <a:ext uri="{FF2B5EF4-FFF2-40B4-BE49-F238E27FC236}">
                    <a16:creationId xmlns:a16="http://schemas.microsoft.com/office/drawing/2014/main" id="{A80F1433-A7AF-4BC9-99B1-43993D104FC8}"/>
                  </a:ext>
                </a:extLst>
              </p:cNvPr>
              <p:cNvSpPr/>
              <p:nvPr/>
            </p:nvSpPr>
            <p:spPr>
              <a:xfrm>
                <a:off x="560512" y="2542514"/>
                <a:ext cx="1368152" cy="936103"/>
              </a:xfrm>
              <a:prstGeom prst="homePlate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專案</a:t>
                </a:r>
                <a:endParaRPr lang="en-US" altLang="zh-TW" b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管理</a:t>
                </a:r>
              </a:p>
            </p:txBody>
          </p:sp>
        </p:grpSp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C21BC4DB-D6B5-401F-8C4D-298DD9265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64036" y="4704946"/>
              <a:ext cx="1433431" cy="606511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A9AF4476-E30A-4F57-BE51-CCF783C36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6924213" y="4713443"/>
              <a:ext cx="583114" cy="662334"/>
            </a:xfrm>
            <a:prstGeom prst="rect">
              <a:avLst/>
            </a:prstGeom>
          </p:spPr>
        </p:pic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23157A49-A7DC-4B08-B00B-F5FEFCEF8D26}"/>
              </a:ext>
            </a:extLst>
          </p:cNvPr>
          <p:cNvGrpSpPr/>
          <p:nvPr/>
        </p:nvGrpSpPr>
        <p:grpSpPr>
          <a:xfrm>
            <a:off x="563797" y="1346813"/>
            <a:ext cx="8775316" cy="942710"/>
            <a:chOff x="563797" y="1346813"/>
            <a:chExt cx="8775316" cy="94271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8A213E5-A2F7-4293-A4D2-8063ACDEE3BF}"/>
                </a:ext>
              </a:extLst>
            </p:cNvPr>
            <p:cNvSpPr/>
            <p:nvPr/>
          </p:nvSpPr>
          <p:spPr>
            <a:xfrm>
              <a:off x="563797" y="1346813"/>
              <a:ext cx="8775316" cy="93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箭號: 五邊形 43">
              <a:extLst>
                <a:ext uri="{FF2B5EF4-FFF2-40B4-BE49-F238E27FC236}">
                  <a16:creationId xmlns:a16="http://schemas.microsoft.com/office/drawing/2014/main" id="{4E79F6E9-46FC-4CB6-92AB-06A750672F16}"/>
                </a:ext>
              </a:extLst>
            </p:cNvPr>
            <p:cNvSpPr/>
            <p:nvPr/>
          </p:nvSpPr>
          <p:spPr>
            <a:xfrm>
              <a:off x="563797" y="1353420"/>
              <a:ext cx="1162320" cy="936103"/>
            </a:xfrm>
            <a:prstGeom prst="homePlat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後端</a:t>
              </a:r>
              <a:endParaRPr lang="en-US" altLang="zh-TW" b="1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開發</a:t>
              </a: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00F23742-7B27-4D35-8FDA-23297A2E5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423" y="1465861"/>
              <a:ext cx="2055082" cy="657104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69BC4B3-1C9C-4907-A380-057159A80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0102" y="1417389"/>
              <a:ext cx="1107920" cy="69561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B772CD2F-4119-4C98-85FA-B6FFDD792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5170" y="1348080"/>
              <a:ext cx="2165551" cy="928093"/>
            </a:xfrm>
            <a:prstGeom prst="rect">
              <a:avLst/>
            </a:prstGeom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564C3E83-1069-4C07-9CAA-54413141B5DA}"/>
              </a:ext>
            </a:extLst>
          </p:cNvPr>
          <p:cNvGrpSpPr/>
          <p:nvPr/>
        </p:nvGrpSpPr>
        <p:grpSpPr>
          <a:xfrm>
            <a:off x="5034211" y="5069365"/>
            <a:ext cx="4316107" cy="1065125"/>
            <a:chOff x="9326372" y="5079154"/>
            <a:chExt cx="4387658" cy="1065125"/>
          </a:xfrm>
        </p:grpSpPr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C0BBA317-4C75-4560-95A8-F2A6E3874808}"/>
                </a:ext>
              </a:extLst>
            </p:cNvPr>
            <p:cNvGrpSpPr/>
            <p:nvPr/>
          </p:nvGrpSpPr>
          <p:grpSpPr>
            <a:xfrm>
              <a:off x="9326372" y="5143666"/>
              <a:ext cx="4387658" cy="936105"/>
              <a:chOff x="560512" y="2542514"/>
              <a:chExt cx="5119315" cy="936105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091A02B4-85E6-48D8-A7DC-30885B0CA521}"/>
                  </a:ext>
                </a:extLst>
              </p:cNvPr>
              <p:cNvSpPr/>
              <p:nvPr/>
            </p:nvSpPr>
            <p:spPr>
              <a:xfrm>
                <a:off x="560512" y="2542515"/>
                <a:ext cx="5119315" cy="9361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7" name="箭號: 五邊形 76">
                <a:extLst>
                  <a:ext uri="{FF2B5EF4-FFF2-40B4-BE49-F238E27FC236}">
                    <a16:creationId xmlns:a16="http://schemas.microsoft.com/office/drawing/2014/main" id="{349C72E9-1769-43CA-B55B-B51206D9797C}"/>
                  </a:ext>
                </a:extLst>
              </p:cNvPr>
              <p:cNvSpPr/>
              <p:nvPr/>
            </p:nvSpPr>
            <p:spPr>
              <a:xfrm>
                <a:off x="560512" y="2542514"/>
                <a:ext cx="1368152" cy="936103"/>
              </a:xfrm>
              <a:prstGeom prst="homePlate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資料</a:t>
                </a:r>
                <a:endParaRPr lang="en-US" altLang="zh-TW" b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儲存</a:t>
                </a:r>
              </a:p>
            </p:txBody>
          </p:sp>
        </p:grpSp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C689E080-B631-4984-9333-6FBFA61A4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7032" y="5281003"/>
              <a:ext cx="1249633" cy="652382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E5B45737-505E-405D-8F62-46BEF8FEC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2785" y="5079154"/>
              <a:ext cx="1065125" cy="1065125"/>
            </a:xfrm>
            <a:prstGeom prst="rect">
              <a:avLst/>
            </a:prstGeom>
          </p:spPr>
        </p:pic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34F23C55-BDCC-4D74-BB68-893CA8AC2575}"/>
              </a:ext>
            </a:extLst>
          </p:cNvPr>
          <p:cNvGrpSpPr/>
          <p:nvPr/>
        </p:nvGrpSpPr>
        <p:grpSpPr>
          <a:xfrm>
            <a:off x="5029485" y="3880301"/>
            <a:ext cx="4320833" cy="936105"/>
            <a:chOff x="560512" y="2542514"/>
            <a:chExt cx="5119315" cy="936105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C7C36D38-E87C-4808-80E6-52505A636BAA}"/>
                </a:ext>
              </a:extLst>
            </p:cNvPr>
            <p:cNvSpPr/>
            <p:nvPr/>
          </p:nvSpPr>
          <p:spPr>
            <a:xfrm>
              <a:off x="560512" y="2542515"/>
              <a:ext cx="5119315" cy="93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箭號: 五邊形 82">
              <a:extLst>
                <a:ext uri="{FF2B5EF4-FFF2-40B4-BE49-F238E27FC236}">
                  <a16:creationId xmlns:a16="http://schemas.microsoft.com/office/drawing/2014/main" id="{FC1913EC-4E89-46CE-B5A2-988583902116}"/>
                </a:ext>
              </a:extLst>
            </p:cNvPr>
            <p:cNvSpPr/>
            <p:nvPr/>
          </p:nvSpPr>
          <p:spPr>
            <a:xfrm>
              <a:off x="560512" y="2542514"/>
              <a:ext cx="1368152" cy="936103"/>
            </a:xfrm>
            <a:prstGeom prst="homePlat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開發</a:t>
              </a:r>
              <a:endParaRPr lang="en-US" altLang="zh-TW" b="1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環境</a:t>
              </a:r>
              <a:endParaRPr lang="en-US" altLang="zh-TW" b="1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pic>
        <p:nvPicPr>
          <p:cNvPr id="85" name="圖片 84">
            <a:extLst>
              <a:ext uri="{FF2B5EF4-FFF2-40B4-BE49-F238E27FC236}">
                <a16:creationId xmlns:a16="http://schemas.microsoft.com/office/drawing/2014/main" id="{FC9861E3-1154-4367-8C25-E1CBDCA3FC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116" y="4022975"/>
            <a:ext cx="1344180" cy="65793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B999D10-7D7F-4195-B0A8-79E30629926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172" y="3938664"/>
            <a:ext cx="1496616" cy="7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6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網站介紹</a:t>
            </a:r>
          </a:p>
        </p:txBody>
      </p:sp>
    </p:spTree>
    <p:extLst>
      <p:ext uri="{BB962C8B-B14F-4D97-AF65-F5344CB8AC3E}">
        <p14:creationId xmlns:p14="http://schemas.microsoft.com/office/powerpoint/2010/main" val="18984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560D-CDD1-2BCF-114D-1C1802D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E109A68-379B-05AF-C710-EF9B959222EA}"/>
              </a:ext>
            </a:extLst>
          </p:cNvPr>
          <p:cNvGrpSpPr/>
          <p:nvPr/>
        </p:nvGrpSpPr>
        <p:grpSpPr>
          <a:xfrm>
            <a:off x="2216696" y="1772816"/>
            <a:ext cx="3622955" cy="646331"/>
            <a:chOff x="1208584" y="1124744"/>
            <a:chExt cx="3622955" cy="64633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6E0EE28-09B8-5B6B-72FB-8EB3942EBD5D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6D5DC74-F6A3-94F0-B218-7F6004AE5154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592586-0610-DB9E-2C24-824E7BC2A268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39CCF67-870B-2B12-5F36-2D25CD280D63}"/>
                </a:ext>
              </a:extLst>
            </p:cNvPr>
            <p:cNvSpPr txBox="1"/>
            <p:nvPr/>
          </p:nvSpPr>
          <p:spPr>
            <a:xfrm>
              <a:off x="1748644" y="1124744"/>
              <a:ext cx="30828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FFC000"/>
                  </a:solidFill>
                </a:rPr>
                <a:t>搜尋</a:t>
              </a:r>
              <a:r>
                <a:rPr lang="en-US" altLang="zh-TW" sz="3600" b="1" dirty="0">
                  <a:solidFill>
                    <a:srgbClr val="FFC000"/>
                  </a:solidFill>
                </a:rPr>
                <a:t>/</a:t>
              </a:r>
              <a:r>
                <a:rPr lang="zh-TW" altLang="en-US" sz="3600" b="1" dirty="0">
                  <a:solidFill>
                    <a:srgbClr val="FFC000"/>
                  </a:solidFill>
                </a:rPr>
                <a:t>訂購演示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6D901C-05EF-A1CD-193A-7FD1D0DBD106}"/>
              </a:ext>
            </a:extLst>
          </p:cNvPr>
          <p:cNvSpPr txBox="1"/>
          <p:nvPr/>
        </p:nvSpPr>
        <p:spPr>
          <a:xfrm>
            <a:off x="2936776" y="2564904"/>
            <a:ext cx="1620957" cy="1305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實際操作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sz="2800" dirty="0">
              <a:solidFill>
                <a:schemeClr val="bg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A82A6C7-5FCD-E4E5-D9D0-CD4A10F533D3}"/>
              </a:ext>
            </a:extLst>
          </p:cNvPr>
          <p:cNvGrpSpPr/>
          <p:nvPr/>
        </p:nvGrpSpPr>
        <p:grpSpPr>
          <a:xfrm>
            <a:off x="6437166" y="3284984"/>
            <a:ext cx="1728192" cy="283191"/>
            <a:chOff x="6177136" y="3429000"/>
            <a:chExt cx="1728192" cy="283191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88E4EF8A-612F-810B-9E67-6EF6FA19DB2F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429000"/>
              <a:ext cx="1728192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2E69ED7-F6E8-1EEA-E2AA-F0E35838B340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573016"/>
              <a:ext cx="1359768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5BA1F0E-5F79-ECF2-10BA-666A082CC6D1}"/>
                </a:ext>
              </a:extLst>
            </p:cNvPr>
            <p:cNvCxnSpPr>
              <a:cxnSpLocks/>
            </p:cNvCxnSpPr>
            <p:nvPr/>
          </p:nvCxnSpPr>
          <p:spPr>
            <a:xfrm>
              <a:off x="6178925" y="3712191"/>
              <a:ext cx="92772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519269-9CB7-7285-7691-764FB6F7BF3A}"/>
              </a:ext>
            </a:extLst>
          </p:cNvPr>
          <p:cNvSpPr txBox="1"/>
          <p:nvPr/>
        </p:nvSpPr>
        <p:spPr>
          <a:xfrm>
            <a:off x="6593376" y="270020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</a:rPr>
              <a:t>黃俐儒</a:t>
            </a:r>
          </a:p>
        </p:txBody>
      </p:sp>
    </p:spTree>
    <p:extLst>
      <p:ext uri="{BB962C8B-B14F-4D97-AF65-F5344CB8AC3E}">
        <p14:creationId xmlns:p14="http://schemas.microsoft.com/office/powerpoint/2010/main" val="200534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F0EE-381F-D88F-74DD-F069A28F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C7F07EA-0624-3350-AE51-73A618B3C8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2520" y="188640"/>
            <a:ext cx="8640960" cy="69269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</a:t>
            </a:r>
            <a:r>
              <a:rPr lang="en-US" altLang="zh-TW" dirty="0"/>
              <a:t>/</a:t>
            </a:r>
            <a:r>
              <a:rPr lang="zh-TW" altLang="en-US" dirty="0"/>
              <a:t>訂購演示</a:t>
            </a:r>
          </a:p>
        </p:txBody>
      </p:sp>
    </p:spTree>
    <p:extLst>
      <p:ext uri="{BB962C8B-B14F-4D97-AF65-F5344CB8AC3E}">
        <p14:creationId xmlns:p14="http://schemas.microsoft.com/office/powerpoint/2010/main" val="27884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1D73-4353-63A7-7339-2B399607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09F5F371-AAC1-B5D5-4C21-3D08A8FF8537}"/>
              </a:ext>
            </a:extLst>
          </p:cNvPr>
          <p:cNvGrpSpPr/>
          <p:nvPr/>
        </p:nvGrpSpPr>
        <p:grpSpPr>
          <a:xfrm>
            <a:off x="2216696" y="1772816"/>
            <a:ext cx="3622955" cy="646331"/>
            <a:chOff x="1208584" y="1124744"/>
            <a:chExt cx="3622955" cy="64633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910B868-D8B3-85AC-B951-D695758A8DED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46545EC-9A31-6CDE-8FD6-9CDF3CAD9FE4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91EA794-5D42-87AB-E8AF-151E1FF67B4A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428153F-76EF-7859-1F05-0CD68C5391E7}"/>
                </a:ext>
              </a:extLst>
            </p:cNvPr>
            <p:cNvSpPr txBox="1"/>
            <p:nvPr/>
          </p:nvSpPr>
          <p:spPr>
            <a:xfrm>
              <a:off x="1748644" y="1124744"/>
              <a:ext cx="30828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FFC000"/>
                  </a:solidFill>
                </a:rPr>
                <a:t>搜尋</a:t>
              </a:r>
              <a:r>
                <a:rPr lang="en-US" altLang="zh-TW" sz="3600" b="1" dirty="0">
                  <a:solidFill>
                    <a:srgbClr val="FFC000"/>
                  </a:solidFill>
                </a:rPr>
                <a:t>/</a:t>
              </a:r>
              <a:r>
                <a:rPr lang="zh-TW" altLang="en-US" sz="3600" b="1" dirty="0">
                  <a:solidFill>
                    <a:srgbClr val="FFC000"/>
                  </a:solidFill>
                </a:rPr>
                <a:t>訂購功能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BFCEDF75-8AEC-7577-0351-0F97BE3820C1}"/>
              </a:ext>
            </a:extLst>
          </p:cNvPr>
          <p:cNvSpPr txBox="1"/>
          <p:nvPr/>
        </p:nvSpPr>
        <p:spPr>
          <a:xfrm>
            <a:off x="2936776" y="2564904"/>
            <a:ext cx="1620957" cy="1305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航班搜尋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 err="1">
                <a:solidFill>
                  <a:schemeClr val="bg1"/>
                </a:solidFill>
              </a:rPr>
              <a:t>ECpay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4275758-E896-DA7F-1710-8A98D0026721}"/>
              </a:ext>
            </a:extLst>
          </p:cNvPr>
          <p:cNvGrpSpPr/>
          <p:nvPr/>
        </p:nvGrpSpPr>
        <p:grpSpPr>
          <a:xfrm>
            <a:off x="6437166" y="3284984"/>
            <a:ext cx="1728192" cy="283191"/>
            <a:chOff x="6177136" y="3429000"/>
            <a:chExt cx="1728192" cy="283191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D8D07175-D812-F23C-DB8E-DCE61F2A1882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429000"/>
              <a:ext cx="1728192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8F4B364F-E0E8-03E0-8320-D4BC577A8BC4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573016"/>
              <a:ext cx="1359768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8895F33E-7772-0B0C-72AE-1CEA77504FFB}"/>
                </a:ext>
              </a:extLst>
            </p:cNvPr>
            <p:cNvCxnSpPr>
              <a:cxnSpLocks/>
            </p:cNvCxnSpPr>
            <p:nvPr/>
          </p:nvCxnSpPr>
          <p:spPr>
            <a:xfrm>
              <a:off x="6178925" y="3712191"/>
              <a:ext cx="92772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0A64D72-263A-66AD-3579-726DAC8C9180}"/>
              </a:ext>
            </a:extLst>
          </p:cNvPr>
          <p:cNvSpPr txBox="1"/>
          <p:nvPr/>
        </p:nvSpPr>
        <p:spPr>
          <a:xfrm>
            <a:off x="6593376" y="270020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</a:rPr>
              <a:t>紀庚佑</a:t>
            </a:r>
          </a:p>
        </p:txBody>
      </p:sp>
    </p:spTree>
    <p:extLst>
      <p:ext uri="{BB962C8B-B14F-4D97-AF65-F5344CB8AC3E}">
        <p14:creationId xmlns:p14="http://schemas.microsoft.com/office/powerpoint/2010/main" val="1198572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BC54-6F28-2B06-9043-87C357BC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5FC181A-D733-4943-9A2A-CCB96FA77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5032"/>
            <a:ext cx="9906000" cy="4667935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A2E72EB7-A036-3271-8724-048AD97070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2520" y="188640"/>
            <a:ext cx="8640960" cy="69269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篩選與排序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F57D0660-9081-90D9-D842-A24398A719B0}"/>
              </a:ext>
            </a:extLst>
          </p:cNvPr>
          <p:cNvSpPr txBox="1">
            <a:spLocks/>
          </p:cNvSpPr>
          <p:nvPr/>
        </p:nvSpPr>
        <p:spPr bwMode="ltGray">
          <a:xfrm>
            <a:off x="1098180" y="485542"/>
            <a:ext cx="8207880" cy="5331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•"/>
              <a:defRPr sz="2800" b="1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714375" indent="-3524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itchFamily="34" charset="0"/>
              <a:buChar char="–"/>
              <a:defRPr sz="2400" b="1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107632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itchFamily="34" charset="0"/>
              <a:buChar char="•"/>
              <a:defRPr sz="20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4302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itchFamily="34" charset="0"/>
              <a:buChar char="–"/>
              <a:defRPr sz="18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619250" indent="-2762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 pitchFamily="34" charset="0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07C5C1A7-7EF3-4FCE-8A0A-9B9C9931F44A}"/>
              </a:ext>
            </a:extLst>
          </p:cNvPr>
          <p:cNvGrpSpPr/>
          <p:nvPr/>
        </p:nvGrpSpPr>
        <p:grpSpPr>
          <a:xfrm>
            <a:off x="1205468" y="2965091"/>
            <a:ext cx="2459449" cy="576064"/>
            <a:chOff x="1294775" y="3364238"/>
            <a:chExt cx="2459449" cy="576064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65F50D60-A243-4585-8090-45D885D62951}"/>
                </a:ext>
              </a:extLst>
            </p:cNvPr>
            <p:cNvSpPr/>
            <p:nvPr/>
          </p:nvSpPr>
          <p:spPr>
            <a:xfrm>
              <a:off x="1294775" y="3364238"/>
              <a:ext cx="2407402" cy="576064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9" name="圖形 8" descr="飛機">
              <a:extLst>
                <a:ext uri="{FF2B5EF4-FFF2-40B4-BE49-F238E27FC236}">
                  <a16:creationId xmlns:a16="http://schemas.microsoft.com/office/drawing/2014/main" id="{07D3334D-6534-462A-B008-1E9EA4CB5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35558" y="3364512"/>
              <a:ext cx="480315" cy="480315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D44D540-40E8-4F0E-80E2-37AB12759CA8}"/>
                </a:ext>
              </a:extLst>
            </p:cNvPr>
            <p:cNvSpPr/>
            <p:nvPr/>
          </p:nvSpPr>
          <p:spPr>
            <a:xfrm>
              <a:off x="1722899" y="3495411"/>
              <a:ext cx="2031325" cy="299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zh-TW" altLang="en-US" b="1" dirty="0">
                  <a:solidFill>
                    <a:schemeClr val="tx1">
                      <a:lumMod val="50000"/>
                    </a:schemeClr>
                  </a:solidFill>
                </a:rPr>
                <a:t>選擇欲搭乘的航空</a:t>
              </a: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90371A7B-B7CA-4608-BF68-318ADDFC4EEC}"/>
              </a:ext>
            </a:extLst>
          </p:cNvPr>
          <p:cNvGrpSpPr/>
          <p:nvPr/>
        </p:nvGrpSpPr>
        <p:grpSpPr>
          <a:xfrm>
            <a:off x="121340" y="631821"/>
            <a:ext cx="2302192" cy="576064"/>
            <a:chOff x="2345707" y="1581219"/>
            <a:chExt cx="2302192" cy="576064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915D457-EC5C-4121-8984-29EFC08B0C1E}"/>
                </a:ext>
              </a:extLst>
            </p:cNvPr>
            <p:cNvSpPr/>
            <p:nvPr/>
          </p:nvSpPr>
          <p:spPr>
            <a:xfrm>
              <a:off x="2345707" y="1581219"/>
              <a:ext cx="2302192" cy="576064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8" name="圖形 17" descr="時鐘">
              <a:extLst>
                <a:ext uri="{FF2B5EF4-FFF2-40B4-BE49-F238E27FC236}">
                  <a16:creationId xmlns:a16="http://schemas.microsoft.com/office/drawing/2014/main" id="{B7F3A003-032C-4C36-A6C7-EB9211D9D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38348" y="1622047"/>
              <a:ext cx="494408" cy="494408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EC8B23E-9E78-43A3-9342-5474898F314D}"/>
                </a:ext>
              </a:extLst>
            </p:cNvPr>
            <p:cNvSpPr txBox="1"/>
            <p:nvPr/>
          </p:nvSpPr>
          <p:spPr>
            <a:xfrm>
              <a:off x="2847406" y="1703350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75000"/>
                    </a:schemeClr>
                  </a:solidFill>
                </a:rPr>
                <a:t>依出發時間選擇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49FFB22-3984-4FAB-9D29-CBE5DEBB1DF2}"/>
              </a:ext>
            </a:extLst>
          </p:cNvPr>
          <p:cNvGrpSpPr/>
          <p:nvPr/>
        </p:nvGrpSpPr>
        <p:grpSpPr>
          <a:xfrm>
            <a:off x="1015988" y="4621516"/>
            <a:ext cx="1830594" cy="607737"/>
            <a:chOff x="1277168" y="5494866"/>
            <a:chExt cx="1830594" cy="607737"/>
          </a:xfrm>
        </p:grpSpPr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FAD97A6A-9AAF-47EE-84B8-2BB3491471B5}"/>
                </a:ext>
              </a:extLst>
            </p:cNvPr>
            <p:cNvSpPr/>
            <p:nvPr/>
          </p:nvSpPr>
          <p:spPr>
            <a:xfrm>
              <a:off x="1277168" y="5500763"/>
              <a:ext cx="1830594" cy="576064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26" name="圖形 25" descr="標籤">
              <a:extLst>
                <a:ext uri="{FF2B5EF4-FFF2-40B4-BE49-F238E27FC236}">
                  <a16:creationId xmlns:a16="http://schemas.microsoft.com/office/drawing/2014/main" id="{6CE65CA5-600A-4879-9854-8AB0050F1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80592" y="5494866"/>
              <a:ext cx="607737" cy="607737"/>
            </a:xfrm>
            <a:prstGeom prst="rect">
              <a:avLst/>
            </a:prstGeom>
          </p:spPr>
        </p:pic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1AD726D-BA83-4F71-B8BC-218DB177F939}"/>
                </a:ext>
              </a:extLst>
            </p:cNvPr>
            <p:cNvSpPr txBox="1"/>
            <p:nvPr/>
          </p:nvSpPr>
          <p:spPr>
            <a:xfrm>
              <a:off x="1741964" y="562441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1">
                      <a:lumMod val="75000"/>
                    </a:schemeClr>
                  </a:solidFill>
                </a:rPr>
                <a:t>以價格排序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512D919-79A4-693E-1A36-4CFAD0778F24}"/>
              </a:ext>
            </a:extLst>
          </p:cNvPr>
          <p:cNvSpPr/>
          <p:nvPr/>
        </p:nvSpPr>
        <p:spPr>
          <a:xfrm>
            <a:off x="71065" y="1356336"/>
            <a:ext cx="1896631" cy="108170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程序 26">
            <a:extLst>
              <a:ext uri="{FF2B5EF4-FFF2-40B4-BE49-F238E27FC236}">
                <a16:creationId xmlns:a16="http://schemas.microsoft.com/office/drawing/2014/main" id="{DF2FE6ED-8645-4927-9107-FB558E74E72E}"/>
              </a:ext>
            </a:extLst>
          </p:cNvPr>
          <p:cNvSpPr/>
          <p:nvPr/>
        </p:nvSpPr>
        <p:spPr>
          <a:xfrm>
            <a:off x="5798789" y="1772816"/>
            <a:ext cx="907673" cy="3744416"/>
          </a:xfrm>
          <a:prstGeom prst="flowChartProcess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9923DA-394F-948A-8AF0-F7A8BC21FD85}"/>
              </a:ext>
            </a:extLst>
          </p:cNvPr>
          <p:cNvSpPr/>
          <p:nvPr/>
        </p:nvSpPr>
        <p:spPr>
          <a:xfrm>
            <a:off x="98678" y="2694088"/>
            <a:ext cx="1008112" cy="1512168"/>
          </a:xfrm>
          <a:prstGeom prst="rect">
            <a:avLst/>
          </a:prstGeom>
          <a:noFill/>
          <a:ln w="57150">
            <a:solidFill>
              <a:srgbClr val="00009A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程序 29">
            <a:extLst>
              <a:ext uri="{FF2B5EF4-FFF2-40B4-BE49-F238E27FC236}">
                <a16:creationId xmlns:a16="http://schemas.microsoft.com/office/drawing/2014/main" id="{F2D7B406-D144-4C10-B9AA-C0DC09F1794D}"/>
              </a:ext>
            </a:extLst>
          </p:cNvPr>
          <p:cNvSpPr/>
          <p:nvPr/>
        </p:nvSpPr>
        <p:spPr>
          <a:xfrm>
            <a:off x="4709821" y="1772816"/>
            <a:ext cx="984873" cy="3744416"/>
          </a:xfrm>
          <a:prstGeom prst="flowChartProcess">
            <a:avLst/>
          </a:prstGeom>
          <a:noFill/>
          <a:ln w="57150">
            <a:solidFill>
              <a:srgbClr val="00009A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0B33C9-3F5F-B7E2-1FD5-6030F8897895}"/>
              </a:ext>
            </a:extLst>
          </p:cNvPr>
          <p:cNvSpPr/>
          <p:nvPr/>
        </p:nvSpPr>
        <p:spPr>
          <a:xfrm>
            <a:off x="98678" y="4338526"/>
            <a:ext cx="793120" cy="1071260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流程圖: 程序 30">
            <a:extLst>
              <a:ext uri="{FF2B5EF4-FFF2-40B4-BE49-F238E27FC236}">
                <a16:creationId xmlns:a16="http://schemas.microsoft.com/office/drawing/2014/main" id="{16589446-FDF7-4C7D-9BB1-D9E1FFCB8527}"/>
              </a:ext>
            </a:extLst>
          </p:cNvPr>
          <p:cNvSpPr/>
          <p:nvPr/>
        </p:nvSpPr>
        <p:spPr>
          <a:xfrm>
            <a:off x="8677765" y="1772816"/>
            <a:ext cx="886137" cy="3744416"/>
          </a:xfrm>
          <a:prstGeom prst="flowChartProcess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10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12" grpId="0" animBg="1"/>
      <p:bldP spid="30" grpId="0" animBg="1"/>
      <p:bldP spid="14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10B0-F7AC-A63F-5655-B1D47797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內容版面配置區 1">
            <a:extLst>
              <a:ext uri="{FF2B5EF4-FFF2-40B4-BE49-F238E27FC236}">
                <a16:creationId xmlns:a16="http://schemas.microsoft.com/office/drawing/2014/main" id="{EF86620A-7D6F-E77E-97DF-A600857B3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10" y="332656"/>
            <a:ext cx="8640960" cy="57606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動態更新旅客與行李表單名稱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532ED1E-E831-4FFF-AA1A-C6415F047D65}"/>
              </a:ext>
            </a:extLst>
          </p:cNvPr>
          <p:cNvGrpSpPr/>
          <p:nvPr/>
        </p:nvGrpSpPr>
        <p:grpSpPr>
          <a:xfrm>
            <a:off x="557609" y="908720"/>
            <a:ext cx="8916327" cy="5551785"/>
            <a:chOff x="557609" y="908720"/>
            <a:chExt cx="8916327" cy="5551785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D5DBF9DC-9078-4EB4-A89F-8667AE78B2D5}"/>
                </a:ext>
              </a:extLst>
            </p:cNvPr>
            <p:cNvGrpSpPr/>
            <p:nvPr/>
          </p:nvGrpSpPr>
          <p:grpSpPr>
            <a:xfrm>
              <a:off x="557609" y="2507674"/>
              <a:ext cx="4646086" cy="1008112"/>
              <a:chOff x="557609" y="2507674"/>
              <a:chExt cx="4646086" cy="1008112"/>
            </a:xfrm>
          </p:grpSpPr>
          <p:sp>
            <p:nvSpPr>
              <p:cNvPr id="18" name="替代程序 17">
                <a:extLst>
                  <a:ext uri="{FF2B5EF4-FFF2-40B4-BE49-F238E27FC236}">
                    <a16:creationId xmlns:a16="http://schemas.microsoft.com/office/drawing/2014/main" id="{49B32A1A-BC2E-2BCD-C21F-6958B4BF8EFF}"/>
                  </a:ext>
                </a:extLst>
              </p:cNvPr>
              <p:cNvSpPr/>
              <p:nvPr/>
            </p:nvSpPr>
            <p:spPr>
              <a:xfrm>
                <a:off x="557609" y="2507674"/>
                <a:ext cx="4646086" cy="1008112"/>
              </a:xfrm>
              <a:prstGeom prst="flowChartAlternateProcess">
                <a:avLst/>
              </a:prstGeom>
              <a:solidFill>
                <a:srgbClr val="FFC000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9E5BD27-17B9-C275-19DF-FA17718F687D}"/>
                  </a:ext>
                </a:extLst>
              </p:cNvPr>
              <p:cNvSpPr txBox="1"/>
              <p:nvPr/>
            </p:nvSpPr>
            <p:spPr>
              <a:xfrm>
                <a:off x="557609" y="2576115"/>
                <a:ext cx="4646086" cy="84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60"/>
                  </a:lnSpc>
                </a:pPr>
                <a:r>
                  <a:rPr lang="zh-TW" altLang="en-US" b="1" dirty="0">
                    <a:solidFill>
                      <a:sysClr val="windowText" lastClr="000000"/>
                    </a:solidFill>
                  </a:rPr>
                  <a:t>動態生成旅客資訊及行李表單，並通過事件監聽器即時更新票價。</a:t>
                </a:r>
              </a:p>
            </p:txBody>
          </p:sp>
        </p:grpSp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D242B5B3-F95B-4BEA-B4CA-71640C0F8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7056" y="908720"/>
              <a:ext cx="4016880" cy="5551785"/>
            </a:xfrm>
            <a:prstGeom prst="rect">
              <a:avLst/>
            </a:prstGeom>
          </p:spPr>
        </p:pic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33AA9DF1-3BD1-4547-94D2-3B91A9B93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3" y="903163"/>
            <a:ext cx="9074370" cy="5554205"/>
          </a:xfrm>
          <a:prstGeom prst="rect">
            <a:avLst/>
          </a:prstGeom>
        </p:spPr>
      </p:pic>
      <p:pic>
        <p:nvPicPr>
          <p:cNvPr id="12" name="圖形 11" descr="核取記號">
            <a:extLst>
              <a:ext uri="{FF2B5EF4-FFF2-40B4-BE49-F238E27FC236}">
                <a16:creationId xmlns:a16="http://schemas.microsoft.com/office/drawing/2014/main" id="{5838E0C0-247D-4556-B30F-D8CB8CC53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69201">
            <a:off x="4800410" y="2667766"/>
            <a:ext cx="483697" cy="483697"/>
          </a:xfrm>
          <a:prstGeom prst="rect">
            <a:avLst/>
          </a:prstGeom>
        </p:spPr>
      </p:pic>
      <p:pic>
        <p:nvPicPr>
          <p:cNvPr id="22" name="圖形 21" descr="核取記號">
            <a:extLst>
              <a:ext uri="{FF2B5EF4-FFF2-40B4-BE49-F238E27FC236}">
                <a16:creationId xmlns:a16="http://schemas.microsoft.com/office/drawing/2014/main" id="{63729A1C-1F5E-4F47-AB54-25B07F5E1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37050">
            <a:off x="4839549" y="4885193"/>
            <a:ext cx="444008" cy="444008"/>
          </a:xfrm>
          <a:prstGeom prst="rect">
            <a:avLst/>
          </a:prstGeom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31C9CCE8-DAEB-4DA5-A14E-52CDA81F4E27}"/>
              </a:ext>
            </a:extLst>
          </p:cNvPr>
          <p:cNvSpPr/>
          <p:nvPr/>
        </p:nvSpPr>
        <p:spPr>
          <a:xfrm rot="784797">
            <a:off x="8435370" y="4588985"/>
            <a:ext cx="902968" cy="518208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scene3d>
            <a:camera prst="isometricTopUp"/>
            <a:lightRig rig="threePt" dir="t"/>
          </a:scene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6D63C4D-6638-4EDF-BC61-DE9D3B08A3DC}"/>
              </a:ext>
            </a:extLst>
          </p:cNvPr>
          <p:cNvSpPr/>
          <p:nvPr/>
        </p:nvSpPr>
        <p:spPr>
          <a:xfrm rot="684967">
            <a:off x="8247460" y="5070677"/>
            <a:ext cx="1083701" cy="654973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scene3d>
            <a:camera prst="isometricTopUp"/>
            <a:lightRig rig="threePt" dir="t"/>
          </a:scene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80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654AA2DA-758B-77EF-08D0-1436370D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10" y="332656"/>
            <a:ext cx="8640960" cy="57606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輸入資料驗證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BB0F92-4A72-9F6A-3658-8156ED8AD577}"/>
              </a:ext>
            </a:extLst>
          </p:cNvPr>
          <p:cNvSpPr txBox="1"/>
          <p:nvPr/>
        </p:nvSpPr>
        <p:spPr>
          <a:xfrm>
            <a:off x="765178" y="838453"/>
            <a:ext cx="8309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對乘客和聯絡人的資料進行即時驗證，確保使用者輸入的資訊符合規定格式。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D8B1DFE-6163-4F77-9294-B3F1D0DF0039}"/>
              </a:ext>
            </a:extLst>
          </p:cNvPr>
          <p:cNvGrpSpPr/>
          <p:nvPr/>
        </p:nvGrpSpPr>
        <p:grpSpPr>
          <a:xfrm>
            <a:off x="272480" y="2385116"/>
            <a:ext cx="9071125" cy="2508749"/>
            <a:chOff x="384210" y="3927065"/>
            <a:chExt cx="9071125" cy="2508749"/>
          </a:xfrm>
        </p:grpSpPr>
        <p:sp>
          <p:nvSpPr>
            <p:cNvPr id="26" name="箭號: 有線條的向右箭號 25">
              <a:extLst>
                <a:ext uri="{FF2B5EF4-FFF2-40B4-BE49-F238E27FC236}">
                  <a16:creationId xmlns:a16="http://schemas.microsoft.com/office/drawing/2014/main" id="{543897EE-AA57-4703-AD9B-F6C0B4B0A2DA}"/>
                </a:ext>
              </a:extLst>
            </p:cNvPr>
            <p:cNvSpPr/>
            <p:nvPr/>
          </p:nvSpPr>
          <p:spPr>
            <a:xfrm rot="5400000">
              <a:off x="4564675" y="4891307"/>
              <a:ext cx="794798" cy="555743"/>
            </a:xfrm>
            <a:prstGeom prst="stripedRightArrow">
              <a:avLst>
                <a:gd name="adj1" fmla="val 37924"/>
                <a:gd name="adj2" fmla="val 46981"/>
              </a:avLst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251E4BE-1D87-4E1D-A5FA-AC2254616559}"/>
                </a:ext>
              </a:extLst>
            </p:cNvPr>
            <p:cNvSpPr/>
            <p:nvPr/>
          </p:nvSpPr>
          <p:spPr>
            <a:xfrm>
              <a:off x="5205712" y="4889151"/>
              <a:ext cx="248806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TW" b="1" dirty="0">
                  <a:solidFill>
                    <a:schemeClr val="bg1"/>
                  </a:solidFill>
                </a:rPr>
                <a:t>fetch </a:t>
              </a:r>
              <a:r>
                <a:rPr lang="zh-TW" altLang="en-US" b="1" dirty="0">
                  <a:solidFill>
                    <a:schemeClr val="bg1"/>
                  </a:solidFill>
                </a:rPr>
                <a:t>發送請求到後端</a:t>
              </a:r>
              <a:endParaRPr lang="zh-TW" altLang="en-US" dirty="0"/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38441E38-5B53-46BA-99F9-A4539479CA51}"/>
                </a:ext>
              </a:extLst>
            </p:cNvPr>
            <p:cNvGrpSpPr/>
            <p:nvPr/>
          </p:nvGrpSpPr>
          <p:grpSpPr>
            <a:xfrm>
              <a:off x="727613" y="3927065"/>
              <a:ext cx="8640960" cy="765387"/>
              <a:chOff x="702894" y="4325657"/>
              <a:chExt cx="8333214" cy="743401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812D96D5-6E18-4C12-B47B-564BD2696774}"/>
                  </a:ext>
                </a:extLst>
              </p:cNvPr>
              <p:cNvGrpSpPr/>
              <p:nvPr/>
            </p:nvGrpSpPr>
            <p:grpSpPr>
              <a:xfrm>
                <a:off x="702894" y="4325657"/>
                <a:ext cx="8333214" cy="743401"/>
                <a:chOff x="649458" y="4357965"/>
                <a:chExt cx="8367729" cy="838978"/>
              </a:xfrm>
            </p:grpSpPr>
            <p:sp>
              <p:nvSpPr>
                <p:cNvPr id="22" name="矩形: 圓角 21">
                  <a:extLst>
                    <a:ext uri="{FF2B5EF4-FFF2-40B4-BE49-F238E27FC236}">
                      <a16:creationId xmlns:a16="http://schemas.microsoft.com/office/drawing/2014/main" id="{61238720-C040-4868-A815-5B522A0CF537}"/>
                    </a:ext>
                  </a:extLst>
                </p:cNvPr>
                <p:cNvSpPr/>
                <p:nvPr/>
              </p:nvSpPr>
              <p:spPr>
                <a:xfrm>
                  <a:off x="649458" y="4357965"/>
                  <a:ext cx="8367729" cy="838978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92073189-A75E-4945-B09F-1339E6FBC838}"/>
                    </a:ext>
                  </a:extLst>
                </p:cNvPr>
                <p:cNvSpPr/>
                <p:nvPr/>
              </p:nvSpPr>
              <p:spPr>
                <a:xfrm>
                  <a:off x="1064568" y="4498645"/>
                  <a:ext cx="1800202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A1E1F699-B04C-493A-8EBD-8569B1525984}"/>
                    </a:ext>
                  </a:extLst>
                </p:cNvPr>
                <p:cNvSpPr txBox="1"/>
                <p:nvPr/>
              </p:nvSpPr>
              <p:spPr>
                <a:xfrm>
                  <a:off x="1179839" y="4606783"/>
                  <a:ext cx="1569660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chemeClr val="bg2">
                          <a:lumMod val="10000"/>
                        </a:schemeClr>
                      </a:solidFill>
                    </a:rPr>
                    <a:t>使用者入資料</a:t>
                  </a:r>
                </a:p>
              </p:txBody>
            </p:sp>
            <p:sp>
              <p:nvSpPr>
                <p:cNvPr id="12" name="矩形: 圓角 11">
                  <a:extLst>
                    <a:ext uri="{FF2B5EF4-FFF2-40B4-BE49-F238E27FC236}">
                      <a16:creationId xmlns:a16="http://schemas.microsoft.com/office/drawing/2014/main" id="{F2ECABEB-D016-46C4-94B7-B3A8D5BCE8EE}"/>
                    </a:ext>
                  </a:extLst>
                </p:cNvPr>
                <p:cNvSpPr/>
                <p:nvPr/>
              </p:nvSpPr>
              <p:spPr>
                <a:xfrm>
                  <a:off x="4100078" y="4498645"/>
                  <a:ext cx="1970185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677C63FB-FE2F-415F-A87E-846371D458BA}"/>
                    </a:ext>
                  </a:extLst>
                </p:cNvPr>
                <p:cNvSpPr txBox="1"/>
                <p:nvPr/>
              </p:nvSpPr>
              <p:spPr>
                <a:xfrm>
                  <a:off x="4204589" y="4589651"/>
                  <a:ext cx="1800493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chemeClr val="bg2">
                          <a:lumMod val="10000"/>
                        </a:schemeClr>
                      </a:solidFill>
                    </a:rPr>
                    <a:t>資料不符合規定</a:t>
                  </a:r>
                </a:p>
              </p:txBody>
            </p:sp>
            <p:sp>
              <p:nvSpPr>
                <p:cNvPr id="15" name="矩形: 圓角 14">
                  <a:extLst>
                    <a:ext uri="{FF2B5EF4-FFF2-40B4-BE49-F238E27FC236}">
                      <a16:creationId xmlns:a16="http://schemas.microsoft.com/office/drawing/2014/main" id="{42726C9D-9654-464E-B709-AA37E04471BD}"/>
                    </a:ext>
                  </a:extLst>
                </p:cNvPr>
                <p:cNvSpPr/>
                <p:nvPr/>
              </p:nvSpPr>
              <p:spPr>
                <a:xfrm>
                  <a:off x="7305570" y="4487887"/>
                  <a:ext cx="1287130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820B43E4-4C64-43ED-AD5E-5E1A1086ED13}"/>
                    </a:ext>
                  </a:extLst>
                </p:cNvPr>
                <p:cNvSpPr txBox="1"/>
                <p:nvPr/>
              </p:nvSpPr>
              <p:spPr>
                <a:xfrm>
                  <a:off x="7231044" y="4575238"/>
                  <a:ext cx="1438931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rgbClr val="FF0000"/>
                      </a:solidFill>
                    </a:rPr>
                    <a:t>錯誤訊息</a:t>
                  </a:r>
                </a:p>
              </p:txBody>
            </p:sp>
          </p:grp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2370625-6508-42FE-86CE-FB9E0EE6ED32}"/>
                  </a:ext>
                </a:extLst>
              </p:cNvPr>
              <p:cNvSpPr txBox="1"/>
              <p:nvPr/>
            </p:nvSpPr>
            <p:spPr>
              <a:xfrm>
                <a:off x="3216384" y="4437376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400" b="1" dirty="0">
                    <a:solidFill>
                      <a:schemeClr val="tx1">
                        <a:lumMod val="75000"/>
                      </a:schemeClr>
                    </a:solidFill>
                  </a:rPr>
                  <a:t>驗證</a:t>
                </a: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0008C1A-F36A-4B44-9460-537A6E49D05E}"/>
                  </a:ext>
                </a:extLst>
              </p:cNvPr>
              <p:cNvSpPr txBox="1"/>
              <p:nvPr/>
            </p:nvSpPr>
            <p:spPr>
              <a:xfrm>
                <a:off x="6291483" y="4413356"/>
                <a:ext cx="1379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b="1" dirty="0">
                    <a:solidFill>
                      <a:schemeClr val="tx1">
                        <a:lumMod val="75000"/>
                      </a:schemeClr>
                    </a:solidFill>
                  </a:rPr>
                  <a:t>即時顯示</a:t>
                </a:r>
              </a:p>
            </p:txBody>
          </p:sp>
          <p:sp>
            <p:nvSpPr>
              <p:cNvPr id="33" name="箭號: 向右 32">
                <a:extLst>
                  <a:ext uri="{FF2B5EF4-FFF2-40B4-BE49-F238E27FC236}">
                    <a16:creationId xmlns:a16="http://schemas.microsoft.com/office/drawing/2014/main" id="{BCF98E3A-1104-47EB-A8A2-AEDA3474FF41}"/>
                  </a:ext>
                </a:extLst>
              </p:cNvPr>
              <p:cNvSpPr/>
              <p:nvPr/>
            </p:nvSpPr>
            <p:spPr>
              <a:xfrm>
                <a:off x="3043334" y="4709760"/>
                <a:ext cx="961681" cy="143398"/>
              </a:xfrm>
              <a:prstGeom prst="rightArrow">
                <a:avLst>
                  <a:gd name="adj1" fmla="val 43477"/>
                  <a:gd name="adj2" fmla="val 131535"/>
                </a:avLst>
              </a:prstGeom>
              <a:solidFill>
                <a:schemeClr val="bg1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箭號: 向右 33">
                <a:extLst>
                  <a:ext uri="{FF2B5EF4-FFF2-40B4-BE49-F238E27FC236}">
                    <a16:creationId xmlns:a16="http://schemas.microsoft.com/office/drawing/2014/main" id="{5B61492F-A942-44BE-9006-A99FB17B4A59}"/>
                  </a:ext>
                </a:extLst>
              </p:cNvPr>
              <p:cNvSpPr/>
              <p:nvPr/>
            </p:nvSpPr>
            <p:spPr>
              <a:xfrm>
                <a:off x="6286900" y="4693857"/>
                <a:ext cx="961681" cy="143398"/>
              </a:xfrm>
              <a:prstGeom prst="rightArrow">
                <a:avLst>
                  <a:gd name="adj1" fmla="val 43477"/>
                  <a:gd name="adj2" fmla="val 131535"/>
                </a:avLst>
              </a:prstGeom>
              <a:solidFill>
                <a:schemeClr val="bg1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A39461D-738E-47D1-806B-44A39E6C09EE}"/>
                </a:ext>
              </a:extLst>
            </p:cNvPr>
            <p:cNvGrpSpPr/>
            <p:nvPr/>
          </p:nvGrpSpPr>
          <p:grpSpPr>
            <a:xfrm>
              <a:off x="384210" y="5571718"/>
              <a:ext cx="9071125" cy="864096"/>
              <a:chOff x="502811" y="4268180"/>
              <a:chExt cx="9010472" cy="864096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EFA3925D-D11A-48C3-9886-39A19ECEDD3F}"/>
                  </a:ext>
                </a:extLst>
              </p:cNvPr>
              <p:cNvGrpSpPr/>
              <p:nvPr/>
            </p:nvGrpSpPr>
            <p:grpSpPr>
              <a:xfrm>
                <a:off x="502811" y="4268180"/>
                <a:ext cx="9010472" cy="864096"/>
                <a:chOff x="448546" y="4293096"/>
                <a:chExt cx="9047792" cy="975190"/>
              </a:xfrm>
            </p:grpSpPr>
            <p:sp>
              <p:nvSpPr>
                <p:cNvPr id="42" name="矩形: 圓角 41">
                  <a:extLst>
                    <a:ext uri="{FF2B5EF4-FFF2-40B4-BE49-F238E27FC236}">
                      <a16:creationId xmlns:a16="http://schemas.microsoft.com/office/drawing/2014/main" id="{4A6C185D-5828-4542-85BB-BDC3EF049050}"/>
                    </a:ext>
                  </a:extLst>
                </p:cNvPr>
                <p:cNvSpPr/>
                <p:nvPr/>
              </p:nvSpPr>
              <p:spPr>
                <a:xfrm>
                  <a:off x="704528" y="4293096"/>
                  <a:ext cx="8791810" cy="975190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3" name="矩形: 圓角 42">
                  <a:extLst>
                    <a:ext uri="{FF2B5EF4-FFF2-40B4-BE49-F238E27FC236}">
                      <a16:creationId xmlns:a16="http://schemas.microsoft.com/office/drawing/2014/main" id="{F01E642C-7EBF-42EB-8D7F-28E239352352}"/>
                    </a:ext>
                  </a:extLst>
                </p:cNvPr>
                <p:cNvSpPr/>
                <p:nvPr/>
              </p:nvSpPr>
              <p:spPr>
                <a:xfrm>
                  <a:off x="1064568" y="4498645"/>
                  <a:ext cx="1800202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4BA118E4-C0D2-4903-A54C-672C6043EB9A}"/>
                    </a:ext>
                  </a:extLst>
                </p:cNvPr>
                <p:cNvSpPr txBox="1"/>
                <p:nvPr/>
              </p:nvSpPr>
              <p:spPr>
                <a:xfrm>
                  <a:off x="448546" y="4600408"/>
                  <a:ext cx="3024749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rgbClr val="0F0F0F"/>
                      </a:solidFill>
                    </a:rPr>
                    <a:t>檢查資料格式</a:t>
                  </a:r>
                </a:p>
              </p:txBody>
            </p:sp>
            <p:sp>
              <p:nvSpPr>
                <p:cNvPr id="45" name="矩形: 圓角 44">
                  <a:extLst>
                    <a:ext uri="{FF2B5EF4-FFF2-40B4-BE49-F238E27FC236}">
                      <a16:creationId xmlns:a16="http://schemas.microsoft.com/office/drawing/2014/main" id="{512292E2-69A4-409B-82CC-9B2754806846}"/>
                    </a:ext>
                  </a:extLst>
                </p:cNvPr>
                <p:cNvSpPr/>
                <p:nvPr/>
              </p:nvSpPr>
              <p:spPr>
                <a:xfrm>
                  <a:off x="4100078" y="4498645"/>
                  <a:ext cx="1970185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74074880-0BFC-461A-A021-AAFF8F32B431}"/>
                    </a:ext>
                  </a:extLst>
                </p:cNvPr>
                <p:cNvSpPr txBox="1"/>
                <p:nvPr/>
              </p:nvSpPr>
              <p:spPr>
                <a:xfrm>
                  <a:off x="4204589" y="4589651"/>
                  <a:ext cx="1800493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chemeClr val="bg2">
                          <a:lumMod val="10000"/>
                        </a:schemeClr>
                      </a:solidFill>
                    </a:rPr>
                    <a:t>結果有誤</a:t>
                  </a:r>
                </a:p>
              </p:txBody>
            </p:sp>
            <p:sp>
              <p:nvSpPr>
                <p:cNvPr id="47" name="矩形: 圓角 46">
                  <a:extLst>
                    <a:ext uri="{FF2B5EF4-FFF2-40B4-BE49-F238E27FC236}">
                      <a16:creationId xmlns:a16="http://schemas.microsoft.com/office/drawing/2014/main" id="{4E6F299C-1073-4533-873E-8FE60C765011}"/>
                    </a:ext>
                  </a:extLst>
                </p:cNvPr>
                <p:cNvSpPr/>
                <p:nvPr/>
              </p:nvSpPr>
              <p:spPr>
                <a:xfrm>
                  <a:off x="7305570" y="4487887"/>
                  <a:ext cx="1622140" cy="585608"/>
                </a:xfrm>
                <a:prstGeom prst="round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650AE699-95C8-485E-9C74-66F031B31832}"/>
                    </a:ext>
                  </a:extLst>
                </p:cNvPr>
                <p:cNvSpPr txBox="1"/>
                <p:nvPr/>
              </p:nvSpPr>
              <p:spPr>
                <a:xfrm>
                  <a:off x="7300444" y="4589830"/>
                  <a:ext cx="1622140" cy="38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b="1" dirty="0">
                      <a:solidFill>
                        <a:srgbClr val="FF0000"/>
                      </a:solidFill>
                    </a:rPr>
                    <a:t>相應的錯誤訊息</a:t>
                  </a:r>
                </a:p>
              </p:txBody>
            </p:sp>
          </p:grp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A932080-033C-49E6-B3E2-7D7503387955}"/>
                  </a:ext>
                </a:extLst>
              </p:cNvPr>
              <p:cNvSpPr txBox="1"/>
              <p:nvPr/>
            </p:nvSpPr>
            <p:spPr>
              <a:xfrm>
                <a:off x="3216384" y="4437376"/>
                <a:ext cx="5401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400" b="1" dirty="0">
                    <a:solidFill>
                      <a:schemeClr val="tx1">
                        <a:lumMod val="75000"/>
                      </a:schemeClr>
                    </a:solidFill>
                  </a:rPr>
                  <a:t>檢查</a:t>
                </a:r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8FD9BB6-8BA9-4DEB-842A-5FC968C60AFE}"/>
                  </a:ext>
                </a:extLst>
              </p:cNvPr>
              <p:cNvSpPr txBox="1"/>
              <p:nvPr/>
            </p:nvSpPr>
            <p:spPr>
              <a:xfrm>
                <a:off x="6291483" y="4413356"/>
                <a:ext cx="1379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b="1" dirty="0">
                    <a:solidFill>
                      <a:schemeClr val="tx1">
                        <a:lumMod val="75000"/>
                      </a:schemeClr>
                    </a:solidFill>
                  </a:rPr>
                  <a:t>即時顯示</a:t>
                </a:r>
              </a:p>
            </p:txBody>
          </p:sp>
          <p:sp>
            <p:nvSpPr>
              <p:cNvPr id="40" name="箭號: 向右 39">
                <a:extLst>
                  <a:ext uri="{FF2B5EF4-FFF2-40B4-BE49-F238E27FC236}">
                    <a16:creationId xmlns:a16="http://schemas.microsoft.com/office/drawing/2014/main" id="{976576A4-3550-4DF0-8C7F-2DEB45DE964A}"/>
                  </a:ext>
                </a:extLst>
              </p:cNvPr>
              <p:cNvSpPr/>
              <p:nvPr/>
            </p:nvSpPr>
            <p:spPr>
              <a:xfrm>
                <a:off x="3043334" y="4709760"/>
                <a:ext cx="961681" cy="143398"/>
              </a:xfrm>
              <a:prstGeom prst="rightArrow">
                <a:avLst>
                  <a:gd name="adj1" fmla="val 43477"/>
                  <a:gd name="adj2" fmla="val 131535"/>
                </a:avLst>
              </a:prstGeom>
              <a:solidFill>
                <a:schemeClr val="bg1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箭號: 向右 40">
                <a:extLst>
                  <a:ext uri="{FF2B5EF4-FFF2-40B4-BE49-F238E27FC236}">
                    <a16:creationId xmlns:a16="http://schemas.microsoft.com/office/drawing/2014/main" id="{1C054B73-0764-464A-9659-472DBF472ADA}"/>
                  </a:ext>
                </a:extLst>
              </p:cNvPr>
              <p:cNvSpPr/>
              <p:nvPr/>
            </p:nvSpPr>
            <p:spPr>
              <a:xfrm>
                <a:off x="6286900" y="4693857"/>
                <a:ext cx="961681" cy="143398"/>
              </a:xfrm>
              <a:prstGeom prst="rightArrow">
                <a:avLst>
                  <a:gd name="adj1" fmla="val 43477"/>
                  <a:gd name="adj2" fmla="val 131535"/>
                </a:avLst>
              </a:prstGeom>
              <a:solidFill>
                <a:schemeClr val="bg1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2ED68843-DD2C-1CAE-1467-6165426C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88" b="32334"/>
          <a:stretch/>
        </p:blipFill>
        <p:spPr>
          <a:xfrm>
            <a:off x="1784647" y="1726502"/>
            <a:ext cx="6569469" cy="4582818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805F9E99-73ED-4D1A-9C9B-96C7BF45C0FF}"/>
              </a:ext>
            </a:extLst>
          </p:cNvPr>
          <p:cNvGrpSpPr/>
          <p:nvPr/>
        </p:nvGrpSpPr>
        <p:grpSpPr>
          <a:xfrm>
            <a:off x="2628085" y="1787249"/>
            <a:ext cx="5136697" cy="3858570"/>
            <a:chOff x="2776313" y="1424697"/>
            <a:chExt cx="4464497" cy="4101193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6207459-C637-4784-AC39-FB91A4B3E5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23" t="1122" r="8493" b="3452"/>
            <a:stretch/>
          </p:blipFill>
          <p:spPr>
            <a:xfrm>
              <a:off x="2776313" y="1424697"/>
              <a:ext cx="4464497" cy="3099449"/>
            </a:xfrm>
            <a:prstGeom prst="rect">
              <a:avLst/>
            </a:prstGeom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AFF596D-8BDB-4E42-8A2F-BF1AE6EC2B67}"/>
                </a:ext>
              </a:extLst>
            </p:cNvPr>
            <p:cNvGrpSpPr/>
            <p:nvPr/>
          </p:nvGrpSpPr>
          <p:grpSpPr>
            <a:xfrm>
              <a:off x="2975437" y="4870086"/>
              <a:ext cx="4066247" cy="655804"/>
              <a:chOff x="-3327920" y="4843053"/>
              <a:chExt cx="3327920" cy="655804"/>
            </a:xfrm>
          </p:grpSpPr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A1695167-ACC4-46AB-BF0C-D31FE5FED81D}"/>
                  </a:ext>
                </a:extLst>
              </p:cNvPr>
              <p:cNvSpPr/>
              <p:nvPr/>
            </p:nvSpPr>
            <p:spPr>
              <a:xfrm>
                <a:off x="-3327920" y="4843053"/>
                <a:ext cx="3327920" cy="646331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07BCDFE-9F7F-4F6E-BB8A-E8A3CF988147}"/>
                  </a:ext>
                </a:extLst>
              </p:cNvPr>
              <p:cNvSpPr txBox="1"/>
              <p:nvPr/>
            </p:nvSpPr>
            <p:spPr>
              <a:xfrm>
                <a:off x="-2911747" y="4852526"/>
                <a:ext cx="2418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送出表單前會再提醒使用者</a:t>
                </a:r>
                <a:br>
                  <a:rPr lang="en-US" altLang="zh-TW" b="1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r>
                  <a:rPr lang="zh-TW" altLang="en-US" b="1" dirty="0">
                    <a:solidFill>
                      <a:schemeClr val="tx1">
                        <a:lumMod val="50000"/>
                      </a:schemeClr>
                    </a:solidFill>
                  </a:rPr>
                  <a:t>重新檢查錯誤再提交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788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E833D496-2D93-411C-178B-C5EF013A1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10" y="332656"/>
            <a:ext cx="8640960" cy="57606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顯示支付倒數計時</a:t>
            </a:r>
          </a:p>
          <a:p>
            <a:pPr marL="0" indent="0">
              <a:buNone/>
            </a:pPr>
            <a:endParaRPr lang="en-US" altLang="zh-TW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FB4F36C-1F70-4985-81EF-2290E1CCAAE8}"/>
              </a:ext>
            </a:extLst>
          </p:cNvPr>
          <p:cNvGrpSpPr/>
          <p:nvPr/>
        </p:nvGrpSpPr>
        <p:grpSpPr>
          <a:xfrm>
            <a:off x="564911" y="3429000"/>
            <a:ext cx="8791977" cy="2116927"/>
            <a:chOff x="708407" y="2924944"/>
            <a:chExt cx="8791977" cy="2116927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20B68C-110B-4B10-AC51-B0B7BCE67481}"/>
                </a:ext>
              </a:extLst>
            </p:cNvPr>
            <p:cNvSpPr txBox="1"/>
            <p:nvPr/>
          </p:nvSpPr>
          <p:spPr>
            <a:xfrm>
              <a:off x="776536" y="2924944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FFFFFF"/>
                  </a:solidFill>
                </a:rPr>
                <a:t>前端流程</a:t>
              </a:r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BD41CC7-A557-4CA0-BD83-F27FC39A6076}"/>
                </a:ext>
              </a:extLst>
            </p:cNvPr>
            <p:cNvSpPr/>
            <p:nvPr/>
          </p:nvSpPr>
          <p:spPr>
            <a:xfrm>
              <a:off x="708407" y="3515190"/>
              <a:ext cx="2160240" cy="1514260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4D16810-E9A8-49E0-9E5D-BB1A06BF6BEB}"/>
                </a:ext>
              </a:extLst>
            </p:cNvPr>
            <p:cNvSpPr txBox="1"/>
            <p:nvPr/>
          </p:nvSpPr>
          <p:spPr>
            <a:xfrm>
              <a:off x="1209407" y="3871477"/>
              <a:ext cx="1173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solidFill>
                    <a:srgbClr val="0F0F0F"/>
                  </a:solidFill>
                </a:rPr>
                <a:t>取訂單 </a:t>
              </a:r>
              <a:r>
                <a:rPr lang="fr-FR" altLang="zh-TW" b="1" dirty="0">
                  <a:solidFill>
                    <a:srgbClr val="0F0F0F"/>
                  </a:solidFill>
                </a:rPr>
                <a:t>ID</a:t>
              </a:r>
              <a:endParaRPr lang="zh-TW" altLang="en-US" dirty="0" err="1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35BAD4A-1B8F-48A2-A0A1-3ABC9A47686A}"/>
                </a:ext>
              </a:extLst>
            </p:cNvPr>
            <p:cNvSpPr txBox="1"/>
            <p:nvPr/>
          </p:nvSpPr>
          <p:spPr>
            <a:xfrm>
              <a:off x="776536" y="4258182"/>
              <a:ext cx="20329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solidFill>
                    <a:srgbClr val="0F0F0F"/>
                  </a:solidFill>
                </a:rPr>
                <a:t>獲取支付截止時間</a:t>
              </a:r>
              <a:endParaRPr lang="en-US" altLang="zh-TW" b="1" dirty="0">
                <a:solidFill>
                  <a:srgbClr val="0F0F0F"/>
                </a:solidFill>
              </a:endParaRPr>
            </a:p>
            <a:p>
              <a:endParaRPr lang="zh-TW" altLang="en-US" dirty="0" err="1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369C8B2D-28AC-448C-9714-094050056B97}"/>
                </a:ext>
              </a:extLst>
            </p:cNvPr>
            <p:cNvSpPr/>
            <p:nvPr/>
          </p:nvSpPr>
          <p:spPr>
            <a:xfrm>
              <a:off x="3155266" y="3510498"/>
              <a:ext cx="3069076" cy="1514260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B3CC65E-EC9F-4314-BA4D-ED6B3B5CB5D9}"/>
                </a:ext>
              </a:extLst>
            </p:cNvPr>
            <p:cNvSpPr txBox="1"/>
            <p:nvPr/>
          </p:nvSpPr>
          <p:spPr>
            <a:xfrm>
              <a:off x="3179503" y="4302066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0F0F0F"/>
                  </a:solidFill>
                </a:rPr>
                <a:t>倒數結束顯示「訂單已逾期」</a:t>
              </a:r>
              <a:endParaRPr lang="zh-TW" altLang="en-US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3FB96A7-0079-47B1-B912-E7F65710F952}"/>
                </a:ext>
              </a:extLst>
            </p:cNvPr>
            <p:cNvSpPr txBox="1"/>
            <p:nvPr/>
          </p:nvSpPr>
          <p:spPr>
            <a:xfrm>
              <a:off x="3313373" y="3850205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altLang="zh-TW" b="1" dirty="0">
                  <a:solidFill>
                    <a:srgbClr val="0F0F0F"/>
                  </a:solidFill>
                </a:rPr>
                <a:t>setInterval </a:t>
              </a:r>
              <a:r>
                <a:rPr lang="zh-TW" altLang="en-US" b="1" dirty="0">
                  <a:solidFill>
                    <a:srgbClr val="0F0F0F"/>
                  </a:solidFill>
                </a:rPr>
                <a:t>每秒更新時間</a:t>
              </a:r>
              <a:endParaRPr lang="zh-TW" altLang="en-US" dirty="0"/>
            </a:p>
          </p:txBody>
        </p:sp>
        <p:pic>
          <p:nvPicPr>
            <p:cNvPr id="15" name="圖形 14" descr="箭號 (右旋)">
              <a:extLst>
                <a:ext uri="{FF2B5EF4-FFF2-40B4-BE49-F238E27FC236}">
                  <a16:creationId xmlns:a16="http://schemas.microsoft.com/office/drawing/2014/main" id="{93026A6F-A89E-4D1E-AE7A-8E7FB643D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088956">
              <a:off x="2531565" y="3074408"/>
              <a:ext cx="985232" cy="844874"/>
            </a:xfrm>
            <a:prstGeom prst="rect">
              <a:avLst/>
            </a:prstGeom>
          </p:spPr>
        </p:pic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408BC2C7-06C8-4CA0-83A2-F2AA38426F38}"/>
                </a:ext>
              </a:extLst>
            </p:cNvPr>
            <p:cNvSpPr/>
            <p:nvPr/>
          </p:nvSpPr>
          <p:spPr>
            <a:xfrm>
              <a:off x="6556307" y="3527611"/>
              <a:ext cx="2944077" cy="1514260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8156FC8-9246-4A55-8F94-1CEC0BCCD5C2}"/>
                </a:ext>
              </a:extLst>
            </p:cNvPr>
            <p:cNvSpPr txBox="1"/>
            <p:nvPr/>
          </p:nvSpPr>
          <p:spPr>
            <a:xfrm>
              <a:off x="6711841" y="3887574"/>
              <a:ext cx="2557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0F0F0F"/>
                  </a:solidFill>
                </a:rPr>
                <a:t>發送 請求更新訂單狀態</a:t>
              </a:r>
              <a:endParaRPr lang="zh-TW" altLang="en-US" dirty="0">
                <a:solidFill>
                  <a:srgbClr val="0F0F0F"/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E048019-48D2-4881-95E0-710693FF2E10}"/>
                </a:ext>
              </a:extLst>
            </p:cNvPr>
            <p:cNvSpPr txBox="1"/>
            <p:nvPr/>
          </p:nvSpPr>
          <p:spPr>
            <a:xfrm>
              <a:off x="6683586" y="4284741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0F0F0F"/>
                  </a:solidFill>
                </a:rPr>
                <a:t>跳轉至「訂單逾期」頁面</a:t>
              </a:r>
              <a:endParaRPr lang="zh-TW" altLang="en-US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20" name="圖形 19" descr="箭號 (右旋)">
              <a:extLst>
                <a:ext uri="{FF2B5EF4-FFF2-40B4-BE49-F238E27FC236}">
                  <a16:creationId xmlns:a16="http://schemas.microsoft.com/office/drawing/2014/main" id="{57811EC4-A0BE-488E-8413-17DBA1B35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088956">
              <a:off x="6018345" y="3105174"/>
              <a:ext cx="985232" cy="844874"/>
            </a:xfrm>
            <a:prstGeom prst="rect">
              <a:avLst/>
            </a:prstGeom>
          </p:spPr>
        </p:pic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78AC7A2A-CEC6-463C-8CAB-105772BA1A97}"/>
              </a:ext>
            </a:extLst>
          </p:cNvPr>
          <p:cNvGrpSpPr/>
          <p:nvPr/>
        </p:nvGrpSpPr>
        <p:grpSpPr>
          <a:xfrm>
            <a:off x="954886" y="3453274"/>
            <a:ext cx="7830208" cy="2104506"/>
            <a:chOff x="909954" y="5068991"/>
            <a:chExt cx="7830208" cy="2104506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F1908D48-2840-4D04-ABE1-03EE6225D96F}"/>
                </a:ext>
              </a:extLst>
            </p:cNvPr>
            <p:cNvGrpSpPr/>
            <p:nvPr/>
          </p:nvGrpSpPr>
          <p:grpSpPr>
            <a:xfrm>
              <a:off x="909954" y="5068991"/>
              <a:ext cx="7830208" cy="2104506"/>
              <a:chOff x="513061" y="2924944"/>
              <a:chExt cx="7830208" cy="2104506"/>
            </a:xfrm>
          </p:grpSpPr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C5DD8F1-BB45-4116-9832-393B6303768C}"/>
                  </a:ext>
                </a:extLst>
              </p:cNvPr>
              <p:cNvSpPr txBox="1"/>
              <p:nvPr/>
            </p:nvSpPr>
            <p:spPr>
              <a:xfrm>
                <a:off x="776536" y="2924944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b="1" dirty="0">
                    <a:solidFill>
                      <a:srgbClr val="FFFFFF"/>
                    </a:solidFill>
                  </a:rPr>
                  <a:t>後端流程</a:t>
                </a:r>
              </a:p>
            </p:txBody>
          </p:sp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8C0C18BA-6C41-42DC-820D-7AB7E0B7C5D7}"/>
                  </a:ext>
                </a:extLst>
              </p:cNvPr>
              <p:cNvSpPr/>
              <p:nvPr/>
            </p:nvSpPr>
            <p:spPr>
              <a:xfrm>
                <a:off x="708407" y="3515190"/>
                <a:ext cx="2160240" cy="1514260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25082F2-9BD6-4E7B-828B-0785D0321C8B}"/>
                  </a:ext>
                </a:extLst>
              </p:cNvPr>
              <p:cNvSpPr txBox="1"/>
              <p:nvPr/>
            </p:nvSpPr>
            <p:spPr>
              <a:xfrm>
                <a:off x="513061" y="4072240"/>
                <a:ext cx="23102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/>
                <a:r>
                  <a:rPr lang="fr-FR" altLang="zh-TW" b="1" dirty="0">
                    <a:solidFill>
                      <a:srgbClr val="0F0F0F"/>
                    </a:solidFill>
                  </a:rPr>
                  <a:t>Session </a:t>
                </a:r>
                <a:r>
                  <a:rPr lang="zh-TW" altLang="en-US" b="1" dirty="0">
                    <a:solidFill>
                      <a:srgbClr val="0F0F0F"/>
                    </a:solidFill>
                  </a:rPr>
                  <a:t>取訂單 </a:t>
                </a:r>
                <a:r>
                  <a:rPr lang="fr-FR" altLang="zh-TW" b="1" dirty="0">
                    <a:solidFill>
                      <a:srgbClr val="0F0F0F"/>
                    </a:solidFill>
                  </a:rPr>
                  <a:t>ID</a:t>
                </a:r>
              </a:p>
              <a:p>
                <a:endParaRPr lang="zh-TW" altLang="en-US" dirty="0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AA588F25-7572-4D60-B937-8C2BC9087338}"/>
                  </a:ext>
                </a:extLst>
              </p:cNvPr>
              <p:cNvSpPr/>
              <p:nvPr/>
            </p:nvSpPr>
            <p:spPr>
              <a:xfrm>
                <a:off x="3155266" y="3510498"/>
                <a:ext cx="2521368" cy="1514260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AF67BF6-43FB-45DE-A939-26BDFDEC7025}"/>
                  </a:ext>
                </a:extLst>
              </p:cNvPr>
              <p:cNvSpPr txBox="1"/>
              <p:nvPr/>
            </p:nvSpPr>
            <p:spPr>
              <a:xfrm>
                <a:off x="3179503" y="4302066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TW" altLang="en-US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30" name="圖形 29" descr="箭號 (右旋)">
                <a:extLst>
                  <a:ext uri="{FF2B5EF4-FFF2-40B4-BE49-F238E27FC236}">
                    <a16:creationId xmlns:a16="http://schemas.microsoft.com/office/drawing/2014/main" id="{A6C4C39F-0923-43CB-99A2-FB8DF0B1FB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0088956">
                <a:off x="2531565" y="3074408"/>
                <a:ext cx="985232" cy="844874"/>
              </a:xfrm>
              <a:prstGeom prst="rect">
                <a:avLst/>
              </a:prstGeom>
            </p:spPr>
          </p:pic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54F8661A-A5E4-4DAA-9E09-49A15F30DDA4}"/>
                  </a:ext>
                </a:extLst>
              </p:cNvPr>
              <p:cNvSpPr/>
              <p:nvPr/>
            </p:nvSpPr>
            <p:spPr>
              <a:xfrm>
                <a:off x="6128317" y="3510498"/>
                <a:ext cx="2214952" cy="1514260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375A8A5-4D77-428C-BC21-CEE273914DB4}"/>
                  </a:ext>
                </a:extLst>
              </p:cNvPr>
              <p:cNvSpPr txBox="1"/>
              <p:nvPr/>
            </p:nvSpPr>
            <p:spPr>
              <a:xfrm>
                <a:off x="6450963" y="3916070"/>
                <a:ext cx="15696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rgbClr val="0F0F0F"/>
                    </a:solidFill>
                  </a:rPr>
                  <a:t>訂單如逾期，</a:t>
                </a:r>
                <a:endParaRPr lang="en-US" altLang="zh-TW" b="1" dirty="0">
                  <a:solidFill>
                    <a:srgbClr val="0F0F0F"/>
                  </a:solidFill>
                </a:endParaRPr>
              </a:p>
              <a:p>
                <a:pPr algn="ctr"/>
                <a:r>
                  <a:rPr lang="zh-TW" altLang="en-US" b="1" dirty="0">
                    <a:solidFill>
                      <a:srgbClr val="0F0F0F"/>
                    </a:solidFill>
                  </a:rPr>
                  <a:t>狀態改為取消</a:t>
                </a:r>
              </a:p>
            </p:txBody>
          </p:sp>
          <p:pic>
            <p:nvPicPr>
              <p:cNvPr id="34" name="圖形 33" descr="箭號 (右旋)">
                <a:extLst>
                  <a:ext uri="{FF2B5EF4-FFF2-40B4-BE49-F238E27FC236}">
                    <a16:creationId xmlns:a16="http://schemas.microsoft.com/office/drawing/2014/main" id="{C611032C-8E41-4E04-8D7A-8CCEF45F2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0088956">
                <a:off x="5407353" y="3085703"/>
                <a:ext cx="985232" cy="844874"/>
              </a:xfrm>
              <a:prstGeom prst="rect">
                <a:avLst/>
              </a:prstGeom>
            </p:spPr>
          </p:pic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314DD82-696C-4482-9B0A-B40A3778F831}"/>
                </a:ext>
              </a:extLst>
            </p:cNvPr>
            <p:cNvSpPr/>
            <p:nvPr/>
          </p:nvSpPr>
          <p:spPr>
            <a:xfrm>
              <a:off x="4028013" y="6088509"/>
              <a:ext cx="156966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0F0F0F"/>
                  </a:solidFill>
                </a:rPr>
                <a:t>查詢訂單資料</a:t>
              </a:r>
              <a:br>
                <a:rPr lang="en-US" altLang="zh-TW" b="1" dirty="0">
                  <a:solidFill>
                    <a:srgbClr val="0F0F0F"/>
                  </a:solidFill>
                </a:rPr>
              </a:br>
              <a:r>
                <a:rPr lang="zh-TW" altLang="en-US" b="1" dirty="0">
                  <a:solidFill>
                    <a:srgbClr val="0F0F0F"/>
                  </a:solidFill>
                </a:rPr>
                <a:t>檢查狀態 </a:t>
              </a:r>
              <a:endParaRPr lang="zh-TW" altLang="en-US" dirty="0"/>
            </a:p>
          </p:txBody>
        </p: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781883E2-CB38-46C1-8348-9A51635A2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16" y="1083305"/>
            <a:ext cx="6351457" cy="1954195"/>
          </a:xfrm>
          <a:prstGeom prst="rect">
            <a:avLst/>
          </a:prstGeom>
        </p:spPr>
      </p:pic>
      <p:grpSp>
        <p:nvGrpSpPr>
          <p:cNvPr id="32" name="群組 31">
            <a:extLst>
              <a:ext uri="{FF2B5EF4-FFF2-40B4-BE49-F238E27FC236}">
                <a16:creationId xmlns:a16="http://schemas.microsoft.com/office/drawing/2014/main" id="{B362A8CB-F6A2-482A-B1F7-0C4139CB0FE6}"/>
              </a:ext>
            </a:extLst>
          </p:cNvPr>
          <p:cNvGrpSpPr/>
          <p:nvPr/>
        </p:nvGrpSpPr>
        <p:grpSpPr>
          <a:xfrm>
            <a:off x="4751177" y="1111477"/>
            <a:ext cx="4678551" cy="1907875"/>
            <a:chOff x="4751177" y="1111477"/>
            <a:chExt cx="4678551" cy="1907875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0269FDEB-3F7B-4A16-A41C-646DFDC97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0258"/>
            <a:stretch/>
          </p:blipFill>
          <p:spPr>
            <a:xfrm>
              <a:off x="5600144" y="1111477"/>
              <a:ext cx="3829584" cy="1907875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9" name="箭號: 向右 28">
              <a:extLst>
                <a:ext uri="{FF2B5EF4-FFF2-40B4-BE49-F238E27FC236}">
                  <a16:creationId xmlns:a16="http://schemas.microsoft.com/office/drawing/2014/main" id="{56C4E6C0-6032-4110-BD7E-DF4518D30724}"/>
                </a:ext>
              </a:extLst>
            </p:cNvPr>
            <p:cNvSpPr/>
            <p:nvPr/>
          </p:nvSpPr>
          <p:spPr>
            <a:xfrm>
              <a:off x="4751177" y="1777762"/>
              <a:ext cx="792088" cy="391098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92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第三方支付</a:t>
            </a:r>
            <a:r>
              <a:rPr lang="en-US" altLang="zh-TW" dirty="0"/>
              <a:t>-</a:t>
            </a:r>
            <a:r>
              <a:rPr lang="en-US" altLang="zh-TW" dirty="0" err="1"/>
              <a:t>ECPay</a:t>
            </a:r>
            <a:endParaRPr lang="zh-TW" altLang="en-US" dirty="0"/>
          </a:p>
        </p:txBody>
      </p:sp>
      <p:pic>
        <p:nvPicPr>
          <p:cNvPr id="6" name="圖形 5" descr="上班族">
            <a:extLst>
              <a:ext uri="{FF2B5EF4-FFF2-40B4-BE49-F238E27FC236}">
                <a16:creationId xmlns:a16="http://schemas.microsoft.com/office/drawing/2014/main" id="{3CDDDFE4-E747-41F9-9E8B-4BC24260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095" y="834326"/>
            <a:ext cx="900000" cy="900000"/>
          </a:xfrm>
          <a:prstGeom prst="rect">
            <a:avLst/>
          </a:prstGeom>
        </p:spPr>
      </p:pic>
      <p:pic>
        <p:nvPicPr>
          <p:cNvPr id="8" name="圖形 7" descr="銀行">
            <a:extLst>
              <a:ext uri="{FF2B5EF4-FFF2-40B4-BE49-F238E27FC236}">
                <a16:creationId xmlns:a16="http://schemas.microsoft.com/office/drawing/2014/main" id="{2587DCE8-DFDE-4D43-B2EC-F683E20A2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7562" y="792373"/>
            <a:ext cx="900000" cy="900000"/>
          </a:xfrm>
          <a:prstGeom prst="rect">
            <a:avLst/>
          </a:prstGeom>
        </p:spPr>
      </p:pic>
      <p:pic>
        <p:nvPicPr>
          <p:cNvPr id="11" name="圖形 10" descr="網際網路">
            <a:extLst>
              <a:ext uri="{FF2B5EF4-FFF2-40B4-BE49-F238E27FC236}">
                <a16:creationId xmlns:a16="http://schemas.microsoft.com/office/drawing/2014/main" id="{566FE8B0-A423-423B-918A-09908C9496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4013" y="802390"/>
            <a:ext cx="900000" cy="90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9A70B11-B680-4BFB-A348-78D01B7AE8F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57" y="786231"/>
            <a:ext cx="828000" cy="828000"/>
          </a:xfrm>
          <a:prstGeom prst="rect">
            <a:avLst/>
          </a:prstGeom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32B4127-995A-49EB-96C8-892159E478B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440095" y="1734326"/>
            <a:ext cx="0" cy="4289348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3FD6097-D3FC-46A0-BCC8-3E8F8103F507}"/>
              </a:ext>
            </a:extLst>
          </p:cNvPr>
          <p:cNvCxnSpPr>
            <a:cxnSpLocks/>
          </p:cNvCxnSpPr>
          <p:nvPr/>
        </p:nvCxnSpPr>
        <p:spPr>
          <a:xfrm>
            <a:off x="3630426" y="1734326"/>
            <a:ext cx="0" cy="4289348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F51F223F-1011-437B-96A5-7AE1007A14D6}"/>
              </a:ext>
            </a:extLst>
          </p:cNvPr>
          <p:cNvCxnSpPr>
            <a:cxnSpLocks/>
          </p:cNvCxnSpPr>
          <p:nvPr/>
        </p:nvCxnSpPr>
        <p:spPr>
          <a:xfrm>
            <a:off x="5820757" y="1734326"/>
            <a:ext cx="0" cy="4289348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69952D8B-D66C-44C6-8202-51FED2970D5C}"/>
              </a:ext>
            </a:extLst>
          </p:cNvPr>
          <p:cNvCxnSpPr>
            <a:cxnSpLocks/>
          </p:cNvCxnSpPr>
          <p:nvPr/>
        </p:nvCxnSpPr>
        <p:spPr>
          <a:xfrm>
            <a:off x="8047562" y="1734326"/>
            <a:ext cx="0" cy="4289348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83887D13-B675-4F30-A745-0D03DA140E8B}"/>
              </a:ext>
            </a:extLst>
          </p:cNvPr>
          <p:cNvCxnSpPr>
            <a:cxnSpLocks/>
          </p:cNvCxnSpPr>
          <p:nvPr/>
        </p:nvCxnSpPr>
        <p:spPr>
          <a:xfrm flipV="1">
            <a:off x="1440095" y="2155179"/>
            <a:ext cx="2203918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A29F4D9-11A2-4990-8F8F-611D5546A641}"/>
              </a:ext>
            </a:extLst>
          </p:cNvPr>
          <p:cNvSpPr txBox="1"/>
          <p:nvPr/>
        </p:nvSpPr>
        <p:spPr>
          <a:xfrm>
            <a:off x="1622190" y="172539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1. </a:t>
            </a:r>
            <a:r>
              <a:rPr lang="zh-TW" altLang="en-US" dirty="0">
                <a:solidFill>
                  <a:schemeClr val="bg1"/>
                </a:solidFill>
              </a:rPr>
              <a:t>用戶確定機票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737B88C5-D2C7-4487-9E5C-1B5B87F4166D}"/>
              </a:ext>
            </a:extLst>
          </p:cNvPr>
          <p:cNvCxnSpPr>
            <a:cxnSpLocks/>
          </p:cNvCxnSpPr>
          <p:nvPr/>
        </p:nvCxnSpPr>
        <p:spPr>
          <a:xfrm flipV="1">
            <a:off x="3616839" y="2633099"/>
            <a:ext cx="2203918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69719FC-94CC-4CA4-ABDE-E4BDD22940CD}"/>
              </a:ext>
            </a:extLst>
          </p:cNvPr>
          <p:cNvCxnSpPr>
            <a:cxnSpLocks/>
          </p:cNvCxnSpPr>
          <p:nvPr/>
        </p:nvCxnSpPr>
        <p:spPr>
          <a:xfrm flipV="1">
            <a:off x="1440095" y="4043428"/>
            <a:ext cx="4385553" cy="1448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CF4D947-899A-4521-AB97-E2FF2E60F897}"/>
              </a:ext>
            </a:extLst>
          </p:cNvPr>
          <p:cNvSpPr txBox="1"/>
          <p:nvPr/>
        </p:nvSpPr>
        <p:spPr>
          <a:xfrm>
            <a:off x="3831157" y="2187832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2. </a:t>
            </a:r>
            <a:r>
              <a:rPr lang="zh-TW" altLang="en-US" dirty="0">
                <a:solidFill>
                  <a:schemeClr val="bg1"/>
                </a:solidFill>
              </a:rPr>
              <a:t>產生訂單物件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B59738CA-228F-4F0D-A269-03C6ACBB83CF}"/>
              </a:ext>
            </a:extLst>
          </p:cNvPr>
          <p:cNvCxnSpPr>
            <a:cxnSpLocks/>
          </p:cNvCxnSpPr>
          <p:nvPr/>
        </p:nvCxnSpPr>
        <p:spPr>
          <a:xfrm flipH="1">
            <a:off x="1426508" y="3356992"/>
            <a:ext cx="438066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95662DA-A14A-471D-9886-151454D13F59}"/>
              </a:ext>
            </a:extLst>
          </p:cNvPr>
          <p:cNvSpPr txBox="1"/>
          <p:nvPr/>
        </p:nvSpPr>
        <p:spPr>
          <a:xfrm>
            <a:off x="1613503" y="2911724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3. </a:t>
            </a:r>
            <a:r>
              <a:rPr lang="zh-TW" altLang="en-US" dirty="0">
                <a:solidFill>
                  <a:schemeClr val="bg1"/>
                </a:solidFill>
              </a:rPr>
              <a:t>設定</a:t>
            </a:r>
            <a:r>
              <a:rPr lang="en-US" altLang="zh-TW" dirty="0">
                <a:solidFill>
                  <a:schemeClr val="bg1"/>
                </a:solidFill>
              </a:rPr>
              <a:t>SDK</a:t>
            </a:r>
            <a:r>
              <a:rPr lang="zh-TW" altLang="en-US" dirty="0">
                <a:solidFill>
                  <a:schemeClr val="bg1"/>
                </a:solidFill>
              </a:rPr>
              <a:t>物件，產生付款頁面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72ADC6E8-7B5A-4723-8485-1E444BC22ADC}"/>
              </a:ext>
            </a:extLst>
          </p:cNvPr>
          <p:cNvSpPr txBox="1"/>
          <p:nvPr/>
        </p:nvSpPr>
        <p:spPr>
          <a:xfrm>
            <a:off x="1617735" y="359815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4. </a:t>
            </a:r>
            <a:r>
              <a:rPr lang="zh-TW" altLang="en-US" dirty="0">
                <a:solidFill>
                  <a:schemeClr val="bg1"/>
                </a:solidFill>
              </a:rPr>
              <a:t>用戶輸入信用卡資訊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E3A33C49-1C18-4C62-B8C0-288443658E19}"/>
              </a:ext>
            </a:extLst>
          </p:cNvPr>
          <p:cNvCxnSpPr>
            <a:cxnSpLocks/>
          </p:cNvCxnSpPr>
          <p:nvPr/>
        </p:nvCxnSpPr>
        <p:spPr>
          <a:xfrm>
            <a:off x="5833195" y="4581128"/>
            <a:ext cx="2214367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D2EB710-DCB1-42A9-B0CD-5F4BE379A700}"/>
              </a:ext>
            </a:extLst>
          </p:cNvPr>
          <p:cNvSpPr txBox="1"/>
          <p:nvPr/>
        </p:nvSpPr>
        <p:spPr>
          <a:xfrm>
            <a:off x="6000052" y="414692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5. </a:t>
            </a:r>
            <a:r>
              <a:rPr lang="zh-TW" altLang="en-US" dirty="0">
                <a:solidFill>
                  <a:schemeClr val="bg1"/>
                </a:solidFill>
              </a:rPr>
              <a:t>繳費付款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32E4A50A-01EC-43B5-8896-D02C204FB141}"/>
              </a:ext>
            </a:extLst>
          </p:cNvPr>
          <p:cNvCxnSpPr>
            <a:cxnSpLocks/>
          </p:cNvCxnSpPr>
          <p:nvPr/>
        </p:nvCxnSpPr>
        <p:spPr>
          <a:xfrm flipH="1">
            <a:off x="5820757" y="5229200"/>
            <a:ext cx="221436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9636894-0D91-4FAA-BAAF-3782EE025182}"/>
              </a:ext>
            </a:extLst>
          </p:cNvPr>
          <p:cNvSpPr txBox="1"/>
          <p:nvPr/>
        </p:nvSpPr>
        <p:spPr>
          <a:xfrm>
            <a:off x="6000052" y="477942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6. </a:t>
            </a:r>
            <a:r>
              <a:rPr lang="zh-TW" altLang="en-US" dirty="0">
                <a:solidFill>
                  <a:schemeClr val="bg1"/>
                </a:solidFill>
              </a:rPr>
              <a:t>獲取付款結果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F9CB5778-9361-44BE-A36D-3AE2A65BE4BD}"/>
              </a:ext>
            </a:extLst>
          </p:cNvPr>
          <p:cNvCxnSpPr>
            <a:cxnSpLocks/>
          </p:cNvCxnSpPr>
          <p:nvPr/>
        </p:nvCxnSpPr>
        <p:spPr>
          <a:xfrm flipH="1">
            <a:off x="3616839" y="5805264"/>
            <a:ext cx="221436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540F62F7-D544-4ADF-9D6E-86B1F0065829}"/>
              </a:ext>
            </a:extLst>
          </p:cNvPr>
          <p:cNvSpPr txBox="1"/>
          <p:nvPr/>
        </p:nvSpPr>
        <p:spPr>
          <a:xfrm>
            <a:off x="3830758" y="534264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7. </a:t>
            </a:r>
            <a:r>
              <a:rPr lang="zh-TW" altLang="en-US" dirty="0">
                <a:solidFill>
                  <a:schemeClr val="bg1"/>
                </a:solidFill>
              </a:rPr>
              <a:t>回覆交易細節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9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039171E-5D76-6A3C-BE56-B1B03EEC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7317432"/>
            <a:ext cx="8051369" cy="2683790"/>
          </a:xfrm>
          <a:prstGeom prst="rect">
            <a:avLst/>
          </a:prstGeom>
        </p:spPr>
      </p:pic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A682ED65-B92D-8EEC-6650-7745922B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88" y="236166"/>
            <a:ext cx="8640960" cy="576064"/>
          </a:xfrm>
        </p:spPr>
        <p:txBody>
          <a:bodyPr>
            <a:normAutofit lnSpcReduction="10000"/>
          </a:bodyPr>
          <a:lstStyle/>
          <a:p>
            <a:r>
              <a:rPr lang="fr-FR" altLang="zh-TW" dirty="0" err="1"/>
              <a:t>ECPay</a:t>
            </a:r>
            <a:r>
              <a:rPr lang="fr-FR" altLang="zh-TW" dirty="0"/>
              <a:t> </a:t>
            </a:r>
            <a:r>
              <a:rPr lang="zh-TW" altLang="en-US" dirty="0"/>
              <a:t>支付回調流程</a:t>
            </a:r>
          </a:p>
          <a:p>
            <a:pPr marL="0" indent="0">
              <a:buNone/>
            </a:pPr>
            <a:endParaRPr lang="en-US" altLang="zh-TW" dirty="0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17A2C36C-F0A3-406F-B190-D7B5D6BECF76}"/>
              </a:ext>
            </a:extLst>
          </p:cNvPr>
          <p:cNvGrpSpPr/>
          <p:nvPr/>
        </p:nvGrpSpPr>
        <p:grpSpPr>
          <a:xfrm>
            <a:off x="323844" y="980728"/>
            <a:ext cx="9582156" cy="5119586"/>
            <a:chOff x="511100" y="960665"/>
            <a:chExt cx="9582156" cy="5119586"/>
          </a:xfrm>
        </p:grpSpPr>
        <p:sp>
          <p:nvSpPr>
            <p:cNvPr id="42" name="想法泡泡: 雲朵 41">
              <a:extLst>
                <a:ext uri="{FF2B5EF4-FFF2-40B4-BE49-F238E27FC236}">
                  <a16:creationId xmlns:a16="http://schemas.microsoft.com/office/drawing/2014/main" id="{B899763A-50B0-490B-ACF0-8648E360719D}"/>
                </a:ext>
              </a:extLst>
            </p:cNvPr>
            <p:cNvSpPr/>
            <p:nvPr/>
          </p:nvSpPr>
          <p:spPr>
            <a:xfrm rot="11932564">
              <a:off x="3088463" y="3487181"/>
              <a:ext cx="2789790" cy="1808611"/>
            </a:xfrm>
            <a:prstGeom prst="cloudCallout">
              <a:avLst>
                <a:gd name="adj1" fmla="val -26171"/>
                <a:gd name="adj2" fmla="val 12329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5715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圖說文字: 向下箭號 38">
              <a:extLst>
                <a:ext uri="{FF2B5EF4-FFF2-40B4-BE49-F238E27FC236}">
                  <a16:creationId xmlns:a16="http://schemas.microsoft.com/office/drawing/2014/main" id="{00E6ABCF-6DC2-4D3E-A7BA-934A083095D5}"/>
                </a:ext>
              </a:extLst>
            </p:cNvPr>
            <p:cNvSpPr/>
            <p:nvPr/>
          </p:nvSpPr>
          <p:spPr>
            <a:xfrm>
              <a:off x="6965566" y="1313035"/>
              <a:ext cx="2560243" cy="1951356"/>
            </a:xfrm>
            <a:prstGeom prst="downArrowCallout">
              <a:avLst>
                <a:gd name="adj1" fmla="val 10441"/>
                <a:gd name="adj2" fmla="val 14081"/>
                <a:gd name="adj3" fmla="val 15446"/>
                <a:gd name="adj4" fmla="val 73166"/>
              </a:avLst>
            </a:prstGeom>
            <a:noFill/>
            <a:ln w="5715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E79EE2ED-058F-43B9-A1D0-7CB41237506A}"/>
                </a:ext>
              </a:extLst>
            </p:cNvPr>
            <p:cNvGrpSpPr/>
            <p:nvPr/>
          </p:nvGrpSpPr>
          <p:grpSpPr>
            <a:xfrm>
              <a:off x="3610503" y="1037399"/>
              <a:ext cx="1728192" cy="1404650"/>
              <a:chOff x="696426" y="932633"/>
              <a:chExt cx="1728192" cy="1404650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AF94F50-12C1-4569-83DF-38C55B8FA00C}"/>
                  </a:ext>
                </a:extLst>
              </p:cNvPr>
              <p:cNvSpPr/>
              <p:nvPr/>
            </p:nvSpPr>
            <p:spPr>
              <a:xfrm>
                <a:off x="696426" y="1361974"/>
                <a:ext cx="1728192" cy="975309"/>
              </a:xfrm>
              <a:prstGeom prst="rect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5A41F3-3F00-4CD9-A9ED-EE184C566842}"/>
                  </a:ext>
                </a:extLst>
              </p:cNvPr>
              <p:cNvSpPr txBox="1"/>
              <p:nvPr/>
            </p:nvSpPr>
            <p:spPr>
              <a:xfrm>
                <a:off x="955227" y="1773781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b="1" dirty="0">
                    <a:solidFill>
                      <a:schemeClr val="bg1"/>
                    </a:solidFill>
                  </a:rPr>
                  <a:t>回傳參數</a:t>
                </a:r>
              </a:p>
            </p:txBody>
          </p:sp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5665136C-9C00-457B-9DD0-44430655DED7}"/>
                  </a:ext>
                </a:extLst>
              </p:cNvPr>
              <p:cNvSpPr/>
              <p:nvPr/>
            </p:nvSpPr>
            <p:spPr>
              <a:xfrm>
                <a:off x="795679" y="932633"/>
                <a:ext cx="1529685" cy="680875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b="1" dirty="0" err="1">
                    <a:solidFill>
                      <a:schemeClr val="bg1"/>
                    </a:solidFill>
                  </a:rPr>
                  <a:t>ECPay</a:t>
                </a:r>
                <a:endParaRPr lang="zh-TW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73536C80-FDDF-492A-99B3-D10912B97B8C}"/>
                </a:ext>
              </a:extLst>
            </p:cNvPr>
            <p:cNvGrpSpPr/>
            <p:nvPr/>
          </p:nvGrpSpPr>
          <p:grpSpPr>
            <a:xfrm>
              <a:off x="3240907" y="3976992"/>
              <a:ext cx="2467381" cy="902825"/>
              <a:chOff x="3243982" y="2258024"/>
              <a:chExt cx="2213491" cy="1304142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4267AC3-6C04-465F-AF24-DAE30117DC5B}"/>
                  </a:ext>
                </a:extLst>
              </p:cNvPr>
              <p:cNvSpPr/>
              <p:nvPr/>
            </p:nvSpPr>
            <p:spPr>
              <a:xfrm>
                <a:off x="3243982" y="2258024"/>
                <a:ext cx="2213491" cy="933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altLang="zh-TW" b="1" dirty="0">
                    <a:solidFill>
                      <a:srgbClr val="0F0F0F"/>
                    </a:solidFill>
                  </a:rPr>
                  <a:t>ngrok </a:t>
                </a:r>
                <a:r>
                  <a:rPr lang="zh-TW" altLang="en-US" b="1" dirty="0">
                    <a:solidFill>
                      <a:srgbClr val="0F0F0F"/>
                    </a:solidFill>
                  </a:rPr>
                  <a:t>生成的網址 </a:t>
                </a:r>
                <a:endParaRPr lang="en-US" altLang="zh-TW" b="1" dirty="0">
                  <a:solidFill>
                    <a:srgbClr val="0F0F0F"/>
                  </a:solidFill>
                </a:endParaRPr>
              </a:p>
              <a:p>
                <a:pPr algn="ctr"/>
                <a:r>
                  <a:rPr lang="zh-TW" altLang="en-US" b="1" dirty="0">
                    <a:solidFill>
                      <a:srgbClr val="0F0F0F"/>
                    </a:solidFill>
                  </a:rPr>
                  <a:t>作為回調地址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4D7E716-10AC-4E92-8145-D0B29DEB13FE}"/>
                  </a:ext>
                </a:extLst>
              </p:cNvPr>
              <p:cNvSpPr/>
              <p:nvPr/>
            </p:nvSpPr>
            <p:spPr>
              <a:xfrm>
                <a:off x="3691880" y="3028661"/>
                <a:ext cx="1672059" cy="533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b="1" dirty="0">
                    <a:solidFill>
                      <a:srgbClr val="0F0F0F"/>
                    </a:solidFill>
                  </a:rPr>
                  <a:t>接收回調通知</a:t>
                </a:r>
              </a:p>
            </p:txBody>
          </p:sp>
        </p:grp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AD4CEA11-4927-4CE0-9D04-5BBC739F63B7}"/>
                </a:ext>
              </a:extLst>
            </p:cNvPr>
            <p:cNvGrpSpPr/>
            <p:nvPr/>
          </p:nvGrpSpPr>
          <p:grpSpPr>
            <a:xfrm>
              <a:off x="6709905" y="960665"/>
              <a:ext cx="3383351" cy="5119586"/>
              <a:chOff x="6150985" y="908849"/>
              <a:chExt cx="3271483" cy="5119586"/>
            </a:xfrm>
          </p:grpSpPr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0B517143-D6BE-4FF0-A751-F0FA18A6E074}"/>
                  </a:ext>
                </a:extLst>
              </p:cNvPr>
              <p:cNvSpPr/>
              <p:nvPr/>
            </p:nvSpPr>
            <p:spPr>
              <a:xfrm>
                <a:off x="6903693" y="908849"/>
                <a:ext cx="1529685" cy="680875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bg1"/>
                    </a:solidFill>
                  </a:rPr>
                  <a:t>後端</a:t>
                </a:r>
                <a:r>
                  <a:rPr lang="en-US" altLang="zh-TW" sz="2000" b="1" dirty="0">
                    <a:solidFill>
                      <a:schemeClr val="bg1"/>
                    </a:solidFill>
                  </a:rPr>
                  <a:t>Controller</a:t>
                </a:r>
                <a:endParaRPr lang="zh-TW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DFF43E1-4BBB-465F-8B1D-DA2BDFF9E6D8}"/>
                  </a:ext>
                </a:extLst>
              </p:cNvPr>
              <p:cNvSpPr/>
              <p:nvPr/>
            </p:nvSpPr>
            <p:spPr>
              <a:xfrm>
                <a:off x="6941997" y="1729836"/>
                <a:ext cx="1569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接收回調請求</a:t>
                </a:r>
                <a:endParaRPr lang="en-US" altLang="zh-TW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A8CF5D2-6B1B-4E23-9756-EB01EDCEBBBC}"/>
                  </a:ext>
                </a:extLst>
              </p:cNvPr>
              <p:cNvSpPr txBox="1"/>
              <p:nvPr/>
            </p:nvSpPr>
            <p:spPr>
              <a:xfrm>
                <a:off x="7212555" y="2139094"/>
                <a:ext cx="11793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記錄參數</a:t>
                </a:r>
                <a:endParaRPr lang="zh-TW" altLang="en-US" b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F9EC39C-EC50-4C49-9F88-E5A3B27E60A4}"/>
                  </a:ext>
                </a:extLst>
              </p:cNvPr>
              <p:cNvSpPr txBox="1"/>
              <p:nvPr/>
            </p:nvSpPr>
            <p:spPr>
              <a:xfrm>
                <a:off x="6150985" y="3463230"/>
                <a:ext cx="32714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由</a:t>
                </a:r>
                <a:r>
                  <a:rPr lang="fr-FR" altLang="zh-TW" b="1" dirty="0">
                    <a:solidFill>
                      <a:schemeClr val="bg1"/>
                    </a:solidFill>
                  </a:rPr>
                  <a:t>RtnCode</a:t>
                </a:r>
                <a:r>
                  <a:rPr lang="zh-TW" altLang="en-US" b="1" dirty="0">
                    <a:solidFill>
                      <a:schemeClr val="bg1"/>
                    </a:solidFill>
                  </a:rPr>
                  <a:t>判斷是否支付成功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261B825-18D2-46A2-9178-2E72BB43466E}"/>
                  </a:ext>
                </a:extLst>
              </p:cNvPr>
              <p:cNvSpPr/>
              <p:nvPr/>
            </p:nvSpPr>
            <p:spPr>
              <a:xfrm>
                <a:off x="6234913" y="4521934"/>
                <a:ext cx="301447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依訂單編號找到對應的訂單</a:t>
                </a:r>
                <a:endParaRPr lang="zh-TW" altLang="en-US" b="1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EEDE70A-B391-4AA4-B538-ED19005F5EEB}"/>
                  </a:ext>
                </a:extLst>
              </p:cNvPr>
              <p:cNvSpPr/>
              <p:nvPr/>
            </p:nvSpPr>
            <p:spPr>
              <a:xfrm>
                <a:off x="6511989" y="5428040"/>
                <a:ext cx="2429677" cy="600395"/>
              </a:xfrm>
              <a:prstGeom prst="rect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8F1A6A3-035B-4AF1-8D01-32890FB2D2CF}"/>
                  </a:ext>
                </a:extLst>
              </p:cNvPr>
              <p:cNvSpPr txBox="1"/>
              <p:nvPr/>
            </p:nvSpPr>
            <p:spPr>
              <a:xfrm>
                <a:off x="7001896" y="5543571"/>
                <a:ext cx="1569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更新訂單狀態</a:t>
                </a:r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0064711-CF54-4034-A9F7-CE709A4BB0CF}"/>
                </a:ext>
              </a:extLst>
            </p:cNvPr>
            <p:cNvGrpSpPr/>
            <p:nvPr/>
          </p:nvGrpSpPr>
          <p:grpSpPr>
            <a:xfrm>
              <a:off x="511100" y="1015949"/>
              <a:ext cx="1728192" cy="1404650"/>
              <a:chOff x="696426" y="932633"/>
              <a:chExt cx="1728192" cy="140465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BE02554-570A-4213-8525-B103FBB71079}"/>
                  </a:ext>
                </a:extLst>
              </p:cNvPr>
              <p:cNvSpPr/>
              <p:nvPr/>
            </p:nvSpPr>
            <p:spPr>
              <a:xfrm>
                <a:off x="696426" y="1361974"/>
                <a:ext cx="1728192" cy="975309"/>
              </a:xfrm>
              <a:prstGeom prst="rect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77C1F38E-EEAA-44EA-A403-AC4F21BABD5A}"/>
                  </a:ext>
                </a:extLst>
              </p:cNvPr>
              <p:cNvSpPr txBox="1"/>
              <p:nvPr/>
            </p:nvSpPr>
            <p:spPr>
              <a:xfrm>
                <a:off x="955227" y="1773781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b="1" dirty="0">
                    <a:solidFill>
                      <a:schemeClr val="bg1"/>
                    </a:solidFill>
                  </a:rPr>
                  <a:t>發送訂單</a:t>
                </a:r>
              </a:p>
            </p:txBody>
          </p:sp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E6E97488-0AB9-4486-872C-EB874032312A}"/>
                  </a:ext>
                </a:extLst>
              </p:cNvPr>
              <p:cNvSpPr/>
              <p:nvPr/>
            </p:nvSpPr>
            <p:spPr>
              <a:xfrm>
                <a:off x="795679" y="932633"/>
                <a:ext cx="1529685" cy="680875"/>
              </a:xfrm>
              <a:prstGeom prst="round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bg1"/>
                    </a:solidFill>
                  </a:rPr>
                  <a:t>支付請求</a:t>
                </a:r>
              </a:p>
            </p:txBody>
          </p:sp>
        </p:grpSp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D7C98C6E-4B4F-4A84-B0D8-C9A8B4A11EB8}"/>
                </a:ext>
              </a:extLst>
            </p:cNvPr>
            <p:cNvSpPr/>
            <p:nvPr/>
          </p:nvSpPr>
          <p:spPr>
            <a:xfrm>
              <a:off x="5357228" y="1709882"/>
              <a:ext cx="1551186" cy="233192"/>
            </a:xfrm>
            <a:prstGeom prst="rightArrow">
              <a:avLst>
                <a:gd name="adj1" fmla="val 43477"/>
                <a:gd name="adj2" fmla="val 131535"/>
              </a:avLst>
            </a:prstGeom>
            <a:solidFill>
              <a:schemeClr val="bg1"/>
            </a:solidFill>
            <a:ln w="28575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A413A4E4-E055-4B31-8528-34CCB04252BA}"/>
                </a:ext>
              </a:extLst>
            </p:cNvPr>
            <p:cNvSpPr txBox="1"/>
            <p:nvPr/>
          </p:nvSpPr>
          <p:spPr>
            <a:xfrm>
              <a:off x="2226244" y="1977438"/>
              <a:ext cx="1355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solidFill>
                    <a:schemeClr val="bg1"/>
                  </a:solidFill>
                </a:rPr>
                <a:t>ECPay</a:t>
              </a:r>
              <a:r>
                <a:rPr lang="en-US" altLang="zh-TW" b="1" dirty="0">
                  <a:solidFill>
                    <a:schemeClr val="bg1"/>
                  </a:solidFill>
                </a:rPr>
                <a:t> API</a:t>
              </a:r>
              <a:endParaRPr lang="zh-TW" altLang="en-US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BC63E13C-E436-46AD-B53D-6B1759CC84E0}"/>
                </a:ext>
              </a:extLst>
            </p:cNvPr>
            <p:cNvSpPr txBox="1"/>
            <p:nvPr/>
          </p:nvSpPr>
          <p:spPr>
            <a:xfrm>
              <a:off x="5471422" y="1992827"/>
              <a:ext cx="1322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zh-TW" sz="1600" b="1" dirty="0">
                  <a:solidFill>
                    <a:schemeClr val="bg1"/>
                  </a:solidFill>
                  <a:latin typeface="Arial Unicode MS"/>
                </a:rPr>
                <a:t>ReturnURL</a:t>
              </a:r>
              <a:r>
                <a:rPr lang="zh-TW" altLang="zh-TW" sz="1600" b="1" dirty="0">
                  <a:solidFill>
                    <a:schemeClr val="bg1"/>
                  </a:solidFill>
                </a:rPr>
                <a:t> </a:t>
              </a:r>
              <a:endParaRPr lang="zh-TW" altLang="zh-TW" sz="1600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箭號: 向右 37">
              <a:extLst>
                <a:ext uri="{FF2B5EF4-FFF2-40B4-BE49-F238E27FC236}">
                  <a16:creationId xmlns:a16="http://schemas.microsoft.com/office/drawing/2014/main" id="{AB68C343-9092-4580-88FC-2514F6C6DF68}"/>
                </a:ext>
              </a:extLst>
            </p:cNvPr>
            <p:cNvSpPr/>
            <p:nvPr/>
          </p:nvSpPr>
          <p:spPr>
            <a:xfrm>
              <a:off x="2275168" y="1715886"/>
              <a:ext cx="1326069" cy="219732"/>
            </a:xfrm>
            <a:prstGeom prst="rightArrow">
              <a:avLst>
                <a:gd name="adj1" fmla="val 43477"/>
                <a:gd name="adj2" fmla="val 131535"/>
              </a:avLst>
            </a:prstGeom>
            <a:solidFill>
              <a:schemeClr val="bg1"/>
            </a:solidFill>
            <a:ln w="28575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圖說文字: 向下箭號 39">
              <a:extLst>
                <a:ext uri="{FF2B5EF4-FFF2-40B4-BE49-F238E27FC236}">
                  <a16:creationId xmlns:a16="http://schemas.microsoft.com/office/drawing/2014/main" id="{BFAFEF35-3DEE-43A3-A864-829178CBFD3E}"/>
                </a:ext>
              </a:extLst>
            </p:cNvPr>
            <p:cNvSpPr/>
            <p:nvPr/>
          </p:nvSpPr>
          <p:spPr>
            <a:xfrm>
              <a:off x="6738126" y="3332998"/>
              <a:ext cx="3117559" cy="986986"/>
            </a:xfrm>
            <a:prstGeom prst="downArrowCallout">
              <a:avLst>
                <a:gd name="adj1" fmla="val 22210"/>
                <a:gd name="adj2" fmla="val 22222"/>
                <a:gd name="adj3" fmla="val 15446"/>
                <a:gd name="adj4" fmla="val 61473"/>
              </a:avLst>
            </a:prstGeom>
            <a:noFill/>
            <a:ln w="5715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圖說文字: 向下箭號 40">
              <a:extLst>
                <a:ext uri="{FF2B5EF4-FFF2-40B4-BE49-F238E27FC236}">
                  <a16:creationId xmlns:a16="http://schemas.microsoft.com/office/drawing/2014/main" id="{998C2E81-45A4-4F70-B231-0594DCE04286}"/>
                </a:ext>
              </a:extLst>
            </p:cNvPr>
            <p:cNvSpPr/>
            <p:nvPr/>
          </p:nvSpPr>
          <p:spPr>
            <a:xfrm>
              <a:off x="6745292" y="4413017"/>
              <a:ext cx="3117559" cy="986986"/>
            </a:xfrm>
            <a:prstGeom prst="downArrowCallout">
              <a:avLst>
                <a:gd name="adj1" fmla="val 22210"/>
                <a:gd name="adj2" fmla="val 22222"/>
                <a:gd name="adj3" fmla="val 15446"/>
                <a:gd name="adj4" fmla="val 61473"/>
              </a:avLst>
            </a:prstGeom>
            <a:noFill/>
            <a:ln w="57150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3220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560D-CDD1-2BCF-114D-1C1802D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E109A68-379B-05AF-C710-EF9B959222EA}"/>
              </a:ext>
            </a:extLst>
          </p:cNvPr>
          <p:cNvGrpSpPr/>
          <p:nvPr/>
        </p:nvGrpSpPr>
        <p:grpSpPr>
          <a:xfrm>
            <a:off x="2216696" y="1772816"/>
            <a:ext cx="2571385" cy="646331"/>
            <a:chOff x="1208584" y="1124744"/>
            <a:chExt cx="2571385" cy="64633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6E0EE28-09B8-5B6B-72FB-8EB3942EBD5D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6D5DC74-F6A3-94F0-B218-7F6004AE5154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592586-0610-DB9E-2C24-824E7BC2A268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39CCF67-870B-2B12-5F36-2D25CD280D63}"/>
                </a:ext>
              </a:extLst>
            </p:cNvPr>
            <p:cNvSpPr txBox="1"/>
            <p:nvPr/>
          </p:nvSpPr>
          <p:spPr>
            <a:xfrm>
              <a:off x="1748644" y="1124744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FFC000"/>
                  </a:solidFill>
                </a:rPr>
                <a:t>評論功能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6D901C-05EF-A1CD-193A-7FD1D0DBD106}"/>
              </a:ext>
            </a:extLst>
          </p:cNvPr>
          <p:cNvSpPr txBox="1"/>
          <p:nvPr/>
        </p:nvSpPr>
        <p:spPr>
          <a:xfrm>
            <a:off x="2765879" y="2592138"/>
            <a:ext cx="3515706" cy="2597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搜尋排序</a:t>
            </a:r>
            <a:r>
              <a:rPr lang="en-US" altLang="zh-TW" sz="2800" dirty="0">
                <a:solidFill>
                  <a:schemeClr val="bg1"/>
                </a:solidFill>
              </a:rPr>
              <a:t>/</a:t>
            </a:r>
            <a:r>
              <a:rPr lang="zh-TW" altLang="en-US" sz="2800" dirty="0">
                <a:solidFill>
                  <a:schemeClr val="bg1"/>
                </a:solidFill>
              </a:rPr>
              <a:t>關鍵字篩選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按讚</a:t>
            </a:r>
            <a:r>
              <a:rPr lang="en-US" altLang="zh-TW" sz="2800" dirty="0">
                <a:solidFill>
                  <a:schemeClr val="bg1"/>
                </a:solidFill>
              </a:rPr>
              <a:t>/</a:t>
            </a:r>
            <a:r>
              <a:rPr lang="zh-TW" altLang="en-US" sz="2800" dirty="0">
                <a:solidFill>
                  <a:schemeClr val="bg1"/>
                </a:solidFill>
              </a:rPr>
              <a:t>收藏</a:t>
            </a:r>
            <a:r>
              <a:rPr lang="en-US" altLang="zh-TW" sz="2800" dirty="0">
                <a:solidFill>
                  <a:schemeClr val="bg1"/>
                </a:solidFill>
              </a:rPr>
              <a:t>/</a:t>
            </a:r>
            <a:r>
              <a:rPr lang="zh-TW" altLang="en-US" sz="2800" dirty="0">
                <a:solidFill>
                  <a:schemeClr val="bg1"/>
                </a:solidFill>
              </a:rPr>
              <a:t>檢舉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新增</a:t>
            </a:r>
            <a:r>
              <a:rPr lang="en-US" altLang="zh-TW" sz="2800" dirty="0">
                <a:solidFill>
                  <a:schemeClr val="bg1"/>
                </a:solidFill>
              </a:rPr>
              <a:t>/</a:t>
            </a:r>
            <a:r>
              <a:rPr lang="zh-TW" altLang="en-US" sz="2800" dirty="0">
                <a:solidFill>
                  <a:schemeClr val="bg1"/>
                </a:solidFill>
              </a:rPr>
              <a:t>編輯評論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意見回饋</a:t>
            </a:r>
            <a:endParaRPr lang="en-US" altLang="zh-TW" sz="2800" dirty="0">
              <a:solidFill>
                <a:schemeClr val="bg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A82A6C7-5FCD-E4E5-D9D0-CD4A10F533D3}"/>
              </a:ext>
            </a:extLst>
          </p:cNvPr>
          <p:cNvGrpSpPr/>
          <p:nvPr/>
        </p:nvGrpSpPr>
        <p:grpSpPr>
          <a:xfrm>
            <a:off x="6437166" y="3284984"/>
            <a:ext cx="1728192" cy="283191"/>
            <a:chOff x="6177136" y="3429000"/>
            <a:chExt cx="1728192" cy="283191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88E4EF8A-612F-810B-9E67-6EF6FA19DB2F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429000"/>
              <a:ext cx="1728192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2E69ED7-F6E8-1EEA-E2AA-F0E35838B340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573016"/>
              <a:ext cx="1359768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5BA1F0E-5F79-ECF2-10BA-666A082CC6D1}"/>
                </a:ext>
              </a:extLst>
            </p:cNvPr>
            <p:cNvCxnSpPr>
              <a:cxnSpLocks/>
            </p:cNvCxnSpPr>
            <p:nvPr/>
          </p:nvCxnSpPr>
          <p:spPr>
            <a:xfrm>
              <a:off x="6178925" y="3712191"/>
              <a:ext cx="92772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519269-9CB7-7285-7691-764FB6F7BF3A}"/>
              </a:ext>
            </a:extLst>
          </p:cNvPr>
          <p:cNvSpPr txBox="1"/>
          <p:nvPr/>
        </p:nvSpPr>
        <p:spPr>
          <a:xfrm>
            <a:off x="6593376" y="270020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</a:rPr>
              <a:t>陳宥琁</a:t>
            </a:r>
          </a:p>
        </p:txBody>
      </p:sp>
    </p:spTree>
    <p:extLst>
      <p:ext uri="{BB962C8B-B14F-4D97-AF65-F5344CB8AC3E}">
        <p14:creationId xmlns:p14="http://schemas.microsoft.com/office/powerpoint/2010/main" val="579707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520" y="73536"/>
            <a:ext cx="8640960" cy="764704"/>
          </a:xfrm>
        </p:spPr>
        <p:txBody>
          <a:bodyPr/>
          <a:lstStyle/>
          <a:p>
            <a:r>
              <a:rPr lang="zh-TW" altLang="en-US" dirty="0"/>
              <a:t>評論系統</a:t>
            </a:r>
          </a:p>
        </p:txBody>
      </p:sp>
    </p:spTree>
    <p:extLst>
      <p:ext uri="{BB962C8B-B14F-4D97-AF65-F5344CB8AC3E}">
        <p14:creationId xmlns:p14="http://schemas.microsoft.com/office/powerpoint/2010/main" val="683984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EC25002-0F19-D21F-9C48-ED1EEEC9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en-US" altLang="zh-TW" dirty="0"/>
              <a:t>Cloud Storage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CC06B73-4F80-3321-4A8B-35C838F99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557" y="1850718"/>
            <a:ext cx="914400" cy="914400"/>
          </a:xfrm>
          <a:prstGeom prst="rect">
            <a:avLst/>
          </a:prstGeom>
        </p:spPr>
      </p:pic>
      <p:pic>
        <p:nvPicPr>
          <p:cNvPr id="14" name="圖形 13" descr="資料庫 以實心填滿">
            <a:extLst>
              <a:ext uri="{FF2B5EF4-FFF2-40B4-BE49-F238E27FC236}">
                <a16:creationId xmlns:a16="http://schemas.microsoft.com/office/drawing/2014/main" id="{FE11A73E-3746-2645-420B-08E3B4EAD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6237" y="5046821"/>
            <a:ext cx="1008000" cy="1008000"/>
          </a:xfrm>
          <a:prstGeom prst="rect">
            <a:avLst/>
          </a:prstGeom>
        </p:spPr>
      </p:pic>
      <p:pic>
        <p:nvPicPr>
          <p:cNvPr id="18" name="圖形 17" descr="伺服器 以實心填滿">
            <a:extLst>
              <a:ext uri="{FF2B5EF4-FFF2-40B4-BE49-F238E27FC236}">
                <a16:creationId xmlns:a16="http://schemas.microsoft.com/office/drawing/2014/main" id="{06C2F035-7AF8-588D-3A2F-F94064B6B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7204" y="5097287"/>
            <a:ext cx="914400" cy="914400"/>
          </a:xfrm>
          <a:prstGeom prst="rect">
            <a:avLst/>
          </a:prstGeom>
        </p:spPr>
      </p:pic>
      <p:pic>
        <p:nvPicPr>
          <p:cNvPr id="20" name="圖形 19" descr="螢幕 以實心填滿">
            <a:extLst>
              <a:ext uri="{FF2B5EF4-FFF2-40B4-BE49-F238E27FC236}">
                <a16:creationId xmlns:a16="http://schemas.microsoft.com/office/drawing/2014/main" id="{B43394A8-F8FA-92C0-2948-8504E4051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3502" y="1867205"/>
            <a:ext cx="914400" cy="914400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05F0E91-3143-FFE1-1793-FE89B09CFC73}"/>
              </a:ext>
            </a:extLst>
          </p:cNvPr>
          <p:cNvSpPr txBox="1"/>
          <p:nvPr/>
        </p:nvSpPr>
        <p:spPr>
          <a:xfrm>
            <a:off x="6359069" y="1488252"/>
            <a:ext cx="1723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4"/>
                </a:solidFill>
              </a:rPr>
              <a:t>Firebase storage</a:t>
            </a:r>
            <a:endParaRPr lang="zh-TW" altLang="en-US" sz="1600" dirty="0">
              <a:solidFill>
                <a:schemeClr val="accent4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B4C29BB-7CE2-126A-F064-86F9D2AD768F}"/>
              </a:ext>
            </a:extLst>
          </p:cNvPr>
          <p:cNvSpPr txBox="1"/>
          <p:nvPr/>
        </p:nvSpPr>
        <p:spPr>
          <a:xfrm>
            <a:off x="6406538" y="47587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rgbClr val="92D050"/>
                </a:solidFill>
              </a:rPr>
              <a:t>資料庫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4DABF5C-7A5A-E765-DC2B-C2CDF2DD98D0}"/>
              </a:ext>
            </a:extLst>
          </p:cNvPr>
          <p:cNvSpPr txBox="1"/>
          <p:nvPr/>
        </p:nvSpPr>
        <p:spPr>
          <a:xfrm>
            <a:off x="4396886" y="47587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rgbClr val="00B0F0"/>
                </a:solidFill>
              </a:rPr>
              <a:t>後端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0FCA21D-B10B-B406-9724-57F236805EC0}"/>
              </a:ext>
            </a:extLst>
          </p:cNvPr>
          <p:cNvSpPr txBox="1"/>
          <p:nvPr/>
        </p:nvSpPr>
        <p:spPr>
          <a:xfrm>
            <a:off x="1333184" y="152865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前端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1A8B071-501D-A9C1-9A97-33CEC8AA0C87}"/>
              </a:ext>
            </a:extLst>
          </p:cNvPr>
          <p:cNvSpPr txBox="1"/>
          <p:nvPr/>
        </p:nvSpPr>
        <p:spPr>
          <a:xfrm>
            <a:off x="5051048" y="5067901"/>
            <a:ext cx="133882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存取資料庫</a:t>
            </a:r>
            <a:endParaRPr lang="en-US" altLang="zh-TW" dirty="0">
              <a:solidFill>
                <a:schemeClr val="bg1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8CC0DA0-4B5C-4783-8FEA-EB5C2A0B7185}"/>
              </a:ext>
            </a:extLst>
          </p:cNvPr>
          <p:cNvCxnSpPr>
            <a:stCxn id="18" idx="3"/>
            <a:endCxn id="14" idx="1"/>
          </p:cNvCxnSpPr>
          <p:nvPr/>
        </p:nvCxnSpPr>
        <p:spPr>
          <a:xfrm flipV="1">
            <a:off x="5151604" y="5550821"/>
            <a:ext cx="1144633" cy="36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84181CBA-E32F-4A0B-AA67-64889542A895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087902" y="2307918"/>
            <a:ext cx="4661655" cy="164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9DAC61A-A3B4-4577-A7F4-84E2C17E86AD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4991921" y="2895193"/>
            <a:ext cx="2794543" cy="2032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B1AF4693-9520-4687-9DF3-986FDC1E0B78}"/>
              </a:ext>
            </a:extLst>
          </p:cNvPr>
          <p:cNvCxnSpPr>
            <a:cxnSpLocks/>
            <a:stCxn id="30" idx="1"/>
            <a:endCxn id="20" idx="2"/>
          </p:cNvCxnSpPr>
          <p:nvPr/>
        </p:nvCxnSpPr>
        <p:spPr>
          <a:xfrm flipH="1" flipV="1">
            <a:off x="1630702" y="2781605"/>
            <a:ext cx="2766184" cy="2146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82233B8-A3E2-4593-B7E5-F66799BF6A16}"/>
              </a:ext>
            </a:extLst>
          </p:cNvPr>
          <p:cNvSpPr txBox="1"/>
          <p:nvPr/>
        </p:nvSpPr>
        <p:spPr>
          <a:xfrm>
            <a:off x="3058101" y="1850718"/>
            <a:ext cx="330096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藉由</a:t>
            </a:r>
            <a:r>
              <a:rPr lang="en-US" altLang="zh-TW" dirty="0">
                <a:solidFill>
                  <a:schemeClr val="bg1"/>
                </a:solidFill>
              </a:rPr>
              <a:t>SDK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/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Fetch API </a:t>
            </a:r>
            <a:r>
              <a:rPr lang="zh-TW" altLang="en-US" dirty="0">
                <a:solidFill>
                  <a:schemeClr val="bg1"/>
                </a:solidFill>
              </a:rPr>
              <a:t>上傳檔案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D4F51FB-64D6-46BD-9415-953DA435DE93}"/>
              </a:ext>
            </a:extLst>
          </p:cNvPr>
          <p:cNvSpPr txBox="1"/>
          <p:nvPr/>
        </p:nvSpPr>
        <p:spPr>
          <a:xfrm>
            <a:off x="6527753" y="3818614"/>
            <a:ext cx="1364476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取得圖片</a:t>
            </a:r>
            <a:r>
              <a:rPr lang="en-US" altLang="zh-TW" dirty="0" err="1">
                <a:solidFill>
                  <a:schemeClr val="bg1"/>
                </a:solidFill>
              </a:rPr>
              <a:t>url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DA6EF97-8FBF-470C-8368-8BAB38A71EFE}"/>
              </a:ext>
            </a:extLst>
          </p:cNvPr>
          <p:cNvSpPr txBox="1"/>
          <p:nvPr/>
        </p:nvSpPr>
        <p:spPr>
          <a:xfrm>
            <a:off x="1334061" y="3818614"/>
            <a:ext cx="1749198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直接設定</a:t>
            </a:r>
            <a:r>
              <a:rPr lang="en-US" altLang="zh-TW" dirty="0">
                <a:solidFill>
                  <a:schemeClr val="bg1"/>
                </a:solidFill>
              </a:rPr>
              <a:t>&lt;</a:t>
            </a:r>
            <a:r>
              <a:rPr lang="en-US" altLang="zh-TW" dirty="0" err="1">
                <a:solidFill>
                  <a:schemeClr val="bg1"/>
                </a:solidFill>
              </a:rPr>
              <a:t>img</a:t>
            </a:r>
            <a:r>
              <a:rPr lang="en-US" altLang="zh-TW" dirty="0">
                <a:solidFill>
                  <a:schemeClr val="bg1"/>
                </a:solidFill>
              </a:rPr>
              <a:t>&gt;</a:t>
            </a:r>
          </a:p>
        </p:txBody>
      </p:sp>
      <p:pic>
        <p:nvPicPr>
          <p:cNvPr id="2052" name="Picture 4" descr="Cloudinary&quot; Icon - Download for free – Iconduck">
            <a:extLst>
              <a:ext uri="{FF2B5EF4-FFF2-40B4-BE49-F238E27FC236}">
                <a16:creationId xmlns:a16="http://schemas.microsoft.com/office/drawing/2014/main" id="{CE40F85F-7B25-4248-89D5-C556904B1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499" y="1850718"/>
            <a:ext cx="1320502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6C651D-F858-47CF-BA00-C753A2F14AE6}"/>
              </a:ext>
            </a:extLst>
          </p:cNvPr>
          <p:cNvSpPr txBox="1"/>
          <p:nvPr/>
        </p:nvSpPr>
        <p:spPr>
          <a:xfrm>
            <a:off x="8127500" y="1488252"/>
            <a:ext cx="1162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err="1">
                <a:solidFill>
                  <a:schemeClr val="accent4"/>
                </a:solidFill>
              </a:rPr>
              <a:t>Cloudinary</a:t>
            </a:r>
            <a:endParaRPr lang="zh-TW" altLang="en-US" sz="1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4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  <p:bldP spid="42" grpId="0"/>
      <p:bldP spid="43" grpId="0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聯繫我們</a:t>
            </a:r>
            <a:r>
              <a:rPr lang="en-US" altLang="zh-TW" dirty="0"/>
              <a:t>-</a:t>
            </a:r>
            <a:r>
              <a:rPr lang="zh-TW" altLang="en-US" dirty="0"/>
              <a:t>表單自動確認信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51310" t="5037" b="4974"/>
          <a:stretch/>
        </p:blipFill>
        <p:spPr>
          <a:xfrm>
            <a:off x="3163637" y="764704"/>
            <a:ext cx="3578726" cy="580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7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聯繫我們</a:t>
            </a:r>
            <a:r>
              <a:rPr lang="en-US" altLang="zh-TW" dirty="0"/>
              <a:t>-</a:t>
            </a:r>
            <a:r>
              <a:rPr lang="zh-TW" altLang="en-US" dirty="0"/>
              <a:t>表單自動確認信</a:t>
            </a:r>
          </a:p>
        </p:txBody>
      </p:sp>
      <p:pic>
        <p:nvPicPr>
          <p:cNvPr id="8" name="圖片 7" descr="一張含有 美工圖案, 圖畫, 卡通 的圖片&#10;&#10;自動產生的描述">
            <a:extLst>
              <a:ext uri="{FF2B5EF4-FFF2-40B4-BE49-F238E27FC236}">
                <a16:creationId xmlns:a16="http://schemas.microsoft.com/office/drawing/2014/main" id="{D4F381B0-0AB3-36EC-9586-F211EEC0ED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472" y="3842486"/>
            <a:ext cx="1293082" cy="1649865"/>
          </a:xfrm>
          <a:prstGeom prst="rect">
            <a:avLst/>
          </a:prstGeom>
        </p:spPr>
      </p:pic>
      <p:pic>
        <p:nvPicPr>
          <p:cNvPr id="20" name="圖片 19" descr="一張含有 卡通, 兒童藝術, 圖畫, 藝術 的圖片&#10;&#10;自動產生的描述">
            <a:extLst>
              <a:ext uri="{FF2B5EF4-FFF2-40B4-BE49-F238E27FC236}">
                <a16:creationId xmlns:a16="http://schemas.microsoft.com/office/drawing/2014/main" id="{61A76624-60E6-0A21-82AB-B66C39DE86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481093"/>
            <a:ext cx="1293082" cy="1368152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56EBE0AE-75E2-0EB2-C443-EC52D861EC5E}"/>
              </a:ext>
            </a:extLst>
          </p:cNvPr>
          <p:cNvGrpSpPr/>
          <p:nvPr/>
        </p:nvGrpSpPr>
        <p:grpSpPr>
          <a:xfrm>
            <a:off x="2792760" y="1309146"/>
            <a:ext cx="4076961" cy="4280094"/>
            <a:chOff x="1829548" y="1448100"/>
            <a:chExt cx="4076961" cy="4280094"/>
          </a:xfrm>
        </p:grpSpPr>
        <p:sp>
          <p:nvSpPr>
            <p:cNvPr id="24" name="圓角矩形 15">
              <a:extLst>
                <a:ext uri="{FF2B5EF4-FFF2-40B4-BE49-F238E27FC236}">
                  <a16:creationId xmlns:a16="http://schemas.microsoft.com/office/drawing/2014/main" id="{1E9569B2-FA85-A768-C50D-03C9A66C1B42}"/>
                </a:ext>
              </a:extLst>
            </p:cNvPr>
            <p:cNvSpPr/>
            <p:nvPr/>
          </p:nvSpPr>
          <p:spPr>
            <a:xfrm>
              <a:off x="3915271" y="1839552"/>
              <a:ext cx="1991238" cy="3888642"/>
            </a:xfrm>
            <a:prstGeom prst="roundRect">
              <a:avLst/>
            </a:prstGeom>
            <a:noFill/>
            <a:ln w="28575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0CAD0C52-49C0-0BB4-7817-B15D7F948FD6}"/>
                </a:ext>
              </a:extLst>
            </p:cNvPr>
            <p:cNvSpPr txBox="1"/>
            <p:nvPr/>
          </p:nvSpPr>
          <p:spPr>
            <a:xfrm>
              <a:off x="4408187" y="144810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dirty="0">
                  <a:solidFill>
                    <a:schemeClr val="accent4"/>
                  </a:solidFill>
                </a:rPr>
                <a:t>伺服器端</a:t>
              </a:r>
            </a:p>
          </p:txBody>
        </p:sp>
        <p:sp>
          <p:nvSpPr>
            <p:cNvPr id="26" name="圓角矩形 14">
              <a:extLst>
                <a:ext uri="{FF2B5EF4-FFF2-40B4-BE49-F238E27FC236}">
                  <a16:creationId xmlns:a16="http://schemas.microsoft.com/office/drawing/2014/main" id="{F50E2E22-CD58-2DF2-0D40-92260C3522A7}"/>
                </a:ext>
              </a:extLst>
            </p:cNvPr>
            <p:cNvSpPr/>
            <p:nvPr/>
          </p:nvSpPr>
          <p:spPr>
            <a:xfrm>
              <a:off x="4134039" y="2017527"/>
              <a:ext cx="1553697" cy="462707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rgbClr val="292929"/>
                  </a:solidFill>
                </a:rPr>
                <a:t>取得表單資訊</a:t>
              </a: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16230967-8AB0-B460-1129-912C853B39A8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1829548" y="2248881"/>
              <a:ext cx="230449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751716E-B83B-A21B-A431-3677B61DAF80}"/>
              </a:ext>
            </a:extLst>
          </p:cNvPr>
          <p:cNvGrpSpPr/>
          <p:nvPr/>
        </p:nvGrpSpPr>
        <p:grpSpPr>
          <a:xfrm>
            <a:off x="4973999" y="2572635"/>
            <a:ext cx="1800200" cy="2852228"/>
            <a:chOff x="4010787" y="3520875"/>
            <a:chExt cx="1800200" cy="2223019"/>
          </a:xfrm>
        </p:grpSpPr>
        <p:sp>
          <p:nvSpPr>
            <p:cNvPr id="32" name="圓角矩形 81">
              <a:extLst>
                <a:ext uri="{FF2B5EF4-FFF2-40B4-BE49-F238E27FC236}">
                  <a16:creationId xmlns:a16="http://schemas.microsoft.com/office/drawing/2014/main" id="{27F079A7-E6F0-ADD3-DAEB-73F87770A430}"/>
                </a:ext>
              </a:extLst>
            </p:cNvPr>
            <p:cNvSpPr/>
            <p:nvPr/>
          </p:nvSpPr>
          <p:spPr>
            <a:xfrm>
              <a:off x="4010787" y="3520875"/>
              <a:ext cx="1800200" cy="2223019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  <a:prstDash val="sys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50030F71-F7C7-EB11-EF55-7CA3EFE80C32}"/>
                </a:ext>
              </a:extLst>
            </p:cNvPr>
            <p:cNvSpPr txBox="1"/>
            <p:nvPr/>
          </p:nvSpPr>
          <p:spPr>
            <a:xfrm>
              <a:off x="4069406" y="3712853"/>
              <a:ext cx="1682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 err="1">
                  <a:solidFill>
                    <a:schemeClr val="accent6"/>
                  </a:solidFill>
                  <a:latin typeface="+mn-ea"/>
                </a:rPr>
                <a:t>JavaMailSender</a:t>
              </a:r>
              <a:endParaRPr lang="zh-TW" altLang="en-US" sz="1600" dirty="0" err="1">
                <a:solidFill>
                  <a:schemeClr val="accent6"/>
                </a:solidFill>
              </a:endParaRP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CB4F865-431D-45A8-16AB-C19758FD0169}"/>
              </a:ext>
            </a:extLst>
          </p:cNvPr>
          <p:cNvGrpSpPr/>
          <p:nvPr/>
        </p:nvGrpSpPr>
        <p:grpSpPr>
          <a:xfrm>
            <a:off x="6650948" y="1433138"/>
            <a:ext cx="2214746" cy="2419742"/>
            <a:chOff x="6650948" y="1448100"/>
            <a:chExt cx="2214746" cy="2419742"/>
          </a:xfrm>
        </p:grpSpPr>
        <p:sp>
          <p:nvSpPr>
            <p:cNvPr id="40" name="圓角矩形 33">
              <a:extLst>
                <a:ext uri="{FF2B5EF4-FFF2-40B4-BE49-F238E27FC236}">
                  <a16:creationId xmlns:a16="http://schemas.microsoft.com/office/drawing/2014/main" id="{2CB62BC2-F817-A7A5-8888-BCBFC08855A1}"/>
                </a:ext>
              </a:extLst>
            </p:cNvPr>
            <p:cNvSpPr/>
            <p:nvPr/>
          </p:nvSpPr>
          <p:spPr>
            <a:xfrm>
              <a:off x="7742496" y="2543177"/>
              <a:ext cx="1014669" cy="462707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rgbClr val="292929"/>
                  </a:solidFill>
                </a:rPr>
                <a:t>新增資料</a:t>
              </a:r>
            </a:p>
          </p:txBody>
        </p:sp>
        <p:sp>
          <p:nvSpPr>
            <p:cNvPr id="41" name="圓角矩形 34">
              <a:extLst>
                <a:ext uri="{FF2B5EF4-FFF2-40B4-BE49-F238E27FC236}">
                  <a16:creationId xmlns:a16="http://schemas.microsoft.com/office/drawing/2014/main" id="{419F2EE0-F5B5-26DD-4B9B-CB77D6A4EDD3}"/>
                </a:ext>
              </a:extLst>
            </p:cNvPr>
            <p:cNvSpPr/>
            <p:nvPr/>
          </p:nvSpPr>
          <p:spPr>
            <a:xfrm>
              <a:off x="7622364" y="1839550"/>
              <a:ext cx="1243330" cy="2028292"/>
            </a:xfrm>
            <a:prstGeom prst="roundRect">
              <a:avLst/>
            </a:prstGeom>
            <a:noFill/>
            <a:ln w="28575"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68DE61BF-2D55-2DB0-5A07-C46E73DEFDEE}"/>
                </a:ext>
              </a:extLst>
            </p:cNvPr>
            <p:cNvSpPr txBox="1"/>
            <p:nvPr/>
          </p:nvSpPr>
          <p:spPr>
            <a:xfrm>
              <a:off x="7843919" y="1448100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dirty="0">
                  <a:solidFill>
                    <a:schemeClr val="accent4"/>
                  </a:solidFill>
                </a:rPr>
                <a:t>資料庫</a:t>
              </a:r>
            </a:p>
          </p:txBody>
        </p:sp>
        <p:cxnSp>
          <p:nvCxnSpPr>
            <p:cNvPr id="43" name="肘形接點 45">
              <a:extLst>
                <a:ext uri="{FF2B5EF4-FFF2-40B4-BE49-F238E27FC236}">
                  <a16:creationId xmlns:a16="http://schemas.microsoft.com/office/drawing/2014/main" id="{6A8C4E96-4B36-BBE5-7E18-65F3275B9DA1}"/>
                </a:ext>
              </a:extLst>
            </p:cNvPr>
            <p:cNvCxnSpPr>
              <a:cxnSpLocks/>
              <a:stCxn id="26" idx="3"/>
              <a:endCxn id="40" idx="0"/>
            </p:cNvCxnSpPr>
            <p:nvPr/>
          </p:nvCxnSpPr>
          <p:spPr>
            <a:xfrm>
              <a:off x="6650948" y="2109927"/>
              <a:ext cx="1598883" cy="418288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肘形接點 63">
            <a:extLst>
              <a:ext uri="{FF2B5EF4-FFF2-40B4-BE49-F238E27FC236}">
                <a16:creationId xmlns:a16="http://schemas.microsoft.com/office/drawing/2014/main" id="{B615A410-BE45-B3A4-F975-16CA7759E748}"/>
              </a:ext>
            </a:extLst>
          </p:cNvPr>
          <p:cNvCxnSpPr>
            <a:cxnSpLocks/>
            <a:stCxn id="62" idx="3"/>
            <a:endCxn id="40" idx="2"/>
          </p:cNvCxnSpPr>
          <p:nvPr/>
        </p:nvCxnSpPr>
        <p:spPr>
          <a:xfrm flipV="1">
            <a:off x="6673970" y="2990922"/>
            <a:ext cx="1575861" cy="572789"/>
          </a:xfrm>
          <a:prstGeom prst="bentConnector2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圓角矩形 77">
            <a:extLst>
              <a:ext uri="{FF2B5EF4-FFF2-40B4-BE49-F238E27FC236}">
                <a16:creationId xmlns:a16="http://schemas.microsoft.com/office/drawing/2014/main" id="{11EDD80D-F337-0F4E-4CF7-582A641AC386}"/>
              </a:ext>
            </a:extLst>
          </p:cNvPr>
          <p:cNvSpPr/>
          <p:nvPr/>
        </p:nvSpPr>
        <p:spPr>
          <a:xfrm>
            <a:off x="5120273" y="3274541"/>
            <a:ext cx="1553697" cy="578339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設置 </a:t>
            </a:r>
            <a:r>
              <a:rPr lang="en-US" altLang="zh-TW" sz="1400" dirty="0" err="1">
                <a:solidFill>
                  <a:srgbClr val="292929"/>
                </a:solidFill>
              </a:rPr>
              <a:t>MimeMessage</a:t>
            </a:r>
            <a:endParaRPr lang="zh-TW" altLang="en-US" sz="1400" dirty="0">
              <a:solidFill>
                <a:srgbClr val="292929"/>
              </a:solidFill>
            </a:endParaRPr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5B49E494-179D-3B55-F920-6B1D01AB7974}"/>
              </a:ext>
            </a:extLst>
          </p:cNvPr>
          <p:cNvCxnSpPr>
            <a:cxnSpLocks/>
            <a:stCxn id="62" idx="2"/>
            <a:endCxn id="68" idx="0"/>
          </p:cNvCxnSpPr>
          <p:nvPr/>
        </p:nvCxnSpPr>
        <p:spPr>
          <a:xfrm flipH="1">
            <a:off x="5897121" y="3852880"/>
            <a:ext cx="1" cy="5853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84">
            <a:extLst>
              <a:ext uri="{FF2B5EF4-FFF2-40B4-BE49-F238E27FC236}">
                <a16:creationId xmlns:a16="http://schemas.microsoft.com/office/drawing/2014/main" id="{195B187D-0D81-522B-7D5F-2A94E5FAEDC4}"/>
              </a:ext>
            </a:extLst>
          </p:cNvPr>
          <p:cNvSpPr/>
          <p:nvPr/>
        </p:nvSpPr>
        <p:spPr>
          <a:xfrm>
            <a:off x="5120272" y="4438249"/>
            <a:ext cx="1553697" cy="578339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rgbClr val="292929"/>
                </a:solidFill>
              </a:rPr>
              <a:t>Thymeleaf</a:t>
            </a:r>
            <a:endParaRPr lang="en-US" altLang="zh-TW" sz="1400" dirty="0">
              <a:solidFill>
                <a:srgbClr val="292929"/>
              </a:solidFill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信件模板渲染</a:t>
            </a:r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D3DFCFF3-F33A-8ACE-0AEF-5324B052EC85}"/>
              </a:ext>
            </a:extLst>
          </p:cNvPr>
          <p:cNvGrpSpPr/>
          <p:nvPr/>
        </p:nvGrpSpPr>
        <p:grpSpPr>
          <a:xfrm>
            <a:off x="2792761" y="4374402"/>
            <a:ext cx="2351717" cy="698339"/>
            <a:chOff x="1935376" y="4528465"/>
            <a:chExt cx="2075413" cy="698339"/>
          </a:xfrm>
        </p:grpSpPr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F940A4F6-1484-00D5-B122-5F5763ADD5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5376" y="4871549"/>
              <a:ext cx="2075413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4CE14970-1E22-8B22-019F-108A68F61AA2}"/>
                </a:ext>
              </a:extLst>
            </p:cNvPr>
            <p:cNvSpPr txBox="1"/>
            <p:nvPr/>
          </p:nvSpPr>
          <p:spPr>
            <a:xfrm>
              <a:off x="2252860" y="4919027"/>
              <a:ext cx="16466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/>
              <a:r>
                <a:rPr lang="zh-TW" altLang="en-US" sz="1400" dirty="0">
                  <a:solidFill>
                    <a:schemeClr val="bg1"/>
                  </a:solidFill>
                  <a:latin typeface="+mn-ea"/>
                </a:rPr>
                <a:t>寄送 </a:t>
              </a:r>
              <a:r>
                <a:rPr lang="en-US" altLang="zh-TW" sz="1400" dirty="0">
                  <a:solidFill>
                    <a:schemeClr val="bg1"/>
                  </a:solidFill>
                  <a:latin typeface="+mn-ea"/>
                </a:rPr>
                <a:t>TLS </a:t>
              </a:r>
              <a:r>
                <a:rPr lang="zh-TW" altLang="en-US" sz="1400" dirty="0">
                  <a:solidFill>
                    <a:schemeClr val="bg1"/>
                  </a:solidFill>
                  <a:latin typeface="+mn-ea"/>
                </a:rPr>
                <a:t>加密信件</a:t>
              </a:r>
              <a:endParaRPr lang="en-US" altLang="zh-TW" sz="1400" dirty="0">
                <a:solidFill>
                  <a:schemeClr val="accent4"/>
                </a:solidFill>
                <a:latin typeface="+mn-ea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C8A4383D-A64A-252D-339C-DFCAAE509052}"/>
                </a:ext>
              </a:extLst>
            </p:cNvPr>
            <p:cNvSpPr txBox="1"/>
            <p:nvPr/>
          </p:nvSpPr>
          <p:spPr>
            <a:xfrm>
              <a:off x="2275506" y="4528465"/>
              <a:ext cx="1609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/>
              <a:r>
                <a:rPr lang="zh-TW" altLang="en-US" sz="1400" dirty="0">
                  <a:solidFill>
                    <a:schemeClr val="accent1"/>
                  </a:solidFill>
                </a:rPr>
                <a:t>使用 </a:t>
              </a:r>
              <a:r>
                <a:rPr lang="en-US" altLang="zh-TW" sz="1400" dirty="0">
                  <a:solidFill>
                    <a:schemeClr val="accent1"/>
                  </a:solidFill>
                </a:rPr>
                <a:t>Gmail SMTP</a:t>
              </a:r>
              <a:endParaRPr lang="en-US" altLang="zh-TW" sz="1400" dirty="0">
                <a:solidFill>
                  <a:schemeClr val="accent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247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聯繫我們</a:t>
            </a:r>
            <a:r>
              <a:rPr lang="en-US" altLang="zh-TW" dirty="0"/>
              <a:t>-</a:t>
            </a:r>
            <a:r>
              <a:rPr lang="zh-TW" altLang="en-US" dirty="0"/>
              <a:t>表單自動確認信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22" y="835948"/>
            <a:ext cx="6185155" cy="56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A54C-71F2-C72D-EE7B-1F51CCE9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95E6B144-FC13-B6D1-31D1-4DD9A985F74E}"/>
              </a:ext>
            </a:extLst>
          </p:cNvPr>
          <p:cNvGrpSpPr/>
          <p:nvPr/>
        </p:nvGrpSpPr>
        <p:grpSpPr>
          <a:xfrm>
            <a:off x="2216696" y="1772816"/>
            <a:ext cx="2571385" cy="646331"/>
            <a:chOff x="1208584" y="1124744"/>
            <a:chExt cx="2571385" cy="64633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85576DE-28B6-0915-1A48-2513D7B79939}"/>
                </a:ext>
              </a:extLst>
            </p:cNvPr>
            <p:cNvGrpSpPr/>
            <p:nvPr/>
          </p:nvGrpSpPr>
          <p:grpSpPr>
            <a:xfrm>
              <a:off x="1208584" y="1196752"/>
              <a:ext cx="540060" cy="509607"/>
              <a:chOff x="1604628" y="1335217"/>
              <a:chExt cx="540060" cy="509607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EB61DF1-0F7E-DCEA-A021-87A3FF4A2495}"/>
                  </a:ext>
                </a:extLst>
              </p:cNvPr>
              <p:cNvSpPr/>
              <p:nvPr/>
            </p:nvSpPr>
            <p:spPr>
              <a:xfrm>
                <a:off x="1784648" y="1484784"/>
                <a:ext cx="360040" cy="360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6CFA953-0B78-64AB-D716-4A883F9BAE13}"/>
                  </a:ext>
                </a:extLst>
              </p:cNvPr>
              <p:cNvSpPr/>
              <p:nvPr/>
            </p:nvSpPr>
            <p:spPr>
              <a:xfrm>
                <a:off x="1604628" y="1335217"/>
                <a:ext cx="360040" cy="360040"/>
              </a:xfrm>
              <a:prstGeom prst="rect">
                <a:avLst/>
              </a:prstGeom>
              <a:solidFill>
                <a:srgbClr val="F8B600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3EB55B2F-7323-4F82-7014-D014F1AB7C81}"/>
                </a:ext>
              </a:extLst>
            </p:cNvPr>
            <p:cNvSpPr txBox="1"/>
            <p:nvPr/>
          </p:nvSpPr>
          <p:spPr>
            <a:xfrm>
              <a:off x="1748644" y="1124744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FFC000"/>
                  </a:solidFill>
                </a:rPr>
                <a:t>會員功能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F5E85C-3654-5A29-D3DC-D9CE2E767738}"/>
              </a:ext>
            </a:extLst>
          </p:cNvPr>
          <p:cNvSpPr txBox="1"/>
          <p:nvPr/>
        </p:nvSpPr>
        <p:spPr>
          <a:xfrm>
            <a:off x="2936776" y="2564904"/>
            <a:ext cx="2438488" cy="1951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會員註冊</a:t>
            </a:r>
            <a:r>
              <a:rPr lang="en-US" altLang="zh-TW" sz="2800" dirty="0">
                <a:solidFill>
                  <a:schemeClr val="bg1"/>
                </a:solidFill>
              </a:rPr>
              <a:t>/</a:t>
            </a:r>
            <a:r>
              <a:rPr lang="zh-TW" altLang="en-US" sz="2800" dirty="0">
                <a:solidFill>
                  <a:schemeClr val="bg1"/>
                </a:solidFill>
              </a:rPr>
              <a:t>登入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修改資料</a:t>
            </a:r>
            <a:endParaRPr lang="en-US" altLang="zh-TW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800" dirty="0">
                <a:solidFill>
                  <a:schemeClr val="bg1"/>
                </a:solidFill>
              </a:rPr>
              <a:t>後臺管理</a:t>
            </a:r>
            <a:endParaRPr lang="en-US" altLang="zh-TW" sz="2800" dirty="0">
              <a:solidFill>
                <a:schemeClr val="bg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D23177C-BBF5-0488-1A3E-18E2333D29CA}"/>
              </a:ext>
            </a:extLst>
          </p:cNvPr>
          <p:cNvGrpSpPr/>
          <p:nvPr/>
        </p:nvGrpSpPr>
        <p:grpSpPr>
          <a:xfrm>
            <a:off x="6437166" y="3284984"/>
            <a:ext cx="1728192" cy="283191"/>
            <a:chOff x="6177136" y="3429000"/>
            <a:chExt cx="1728192" cy="283191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7D0B798-8085-DC76-65F4-73AD333ECF5E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429000"/>
              <a:ext cx="1728192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51C03413-07E5-9D0E-4B8A-6959F8D42F91}"/>
                </a:ext>
              </a:extLst>
            </p:cNvPr>
            <p:cNvCxnSpPr>
              <a:cxnSpLocks/>
            </p:cNvCxnSpPr>
            <p:nvPr/>
          </p:nvCxnSpPr>
          <p:spPr>
            <a:xfrm>
              <a:off x="6177136" y="3573016"/>
              <a:ext cx="1359768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6D21657D-E1CC-96DB-1E0C-79C67E32F8D3}"/>
                </a:ext>
              </a:extLst>
            </p:cNvPr>
            <p:cNvCxnSpPr>
              <a:cxnSpLocks/>
            </p:cNvCxnSpPr>
            <p:nvPr/>
          </p:nvCxnSpPr>
          <p:spPr>
            <a:xfrm>
              <a:off x="6178925" y="3712191"/>
              <a:ext cx="92772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70F1A58-7364-43E6-7DA4-461B3812111F}"/>
              </a:ext>
            </a:extLst>
          </p:cNvPr>
          <p:cNvSpPr txBox="1"/>
          <p:nvPr/>
        </p:nvSpPr>
        <p:spPr>
          <a:xfrm>
            <a:off x="6593376" y="270020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</a:rPr>
              <a:t>陳柏逸</a:t>
            </a:r>
          </a:p>
        </p:txBody>
      </p:sp>
    </p:spTree>
    <p:extLst>
      <p:ext uri="{BB962C8B-B14F-4D97-AF65-F5344CB8AC3E}">
        <p14:creationId xmlns:p14="http://schemas.microsoft.com/office/powerpoint/2010/main" val="765675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ABAF-AC74-E636-F99A-79336190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A6D3A-C166-FA13-27F1-71D4CFA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會員註冊</a:t>
            </a:r>
          </a:p>
        </p:txBody>
      </p:sp>
      <p:sp>
        <p:nvSpPr>
          <p:cNvPr id="51" name="圓角矩形 6">
            <a:extLst>
              <a:ext uri="{FF2B5EF4-FFF2-40B4-BE49-F238E27FC236}">
                <a16:creationId xmlns:a16="http://schemas.microsoft.com/office/drawing/2014/main" id="{18FF1094-5418-B0E9-E955-C423DE201CFF}"/>
              </a:ext>
            </a:extLst>
          </p:cNvPr>
          <p:cNvSpPr/>
          <p:nvPr/>
        </p:nvSpPr>
        <p:spPr>
          <a:xfrm>
            <a:off x="642739" y="1614991"/>
            <a:ext cx="1191995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送出 </a:t>
            </a:r>
            <a:r>
              <a:rPr lang="en-US" altLang="zh-TW" sz="1400" b="1" dirty="0">
                <a:solidFill>
                  <a:srgbClr val="292929"/>
                </a:solidFill>
              </a:rPr>
              <a:t>Email</a:t>
            </a:r>
            <a:r>
              <a:rPr lang="zh-TW" altLang="en-US" sz="1400" b="1" dirty="0">
                <a:solidFill>
                  <a:srgbClr val="292929"/>
                </a:solidFill>
              </a:rPr>
              <a:t>、密碼</a:t>
            </a:r>
          </a:p>
        </p:txBody>
      </p:sp>
      <p:sp>
        <p:nvSpPr>
          <p:cNvPr id="52" name="圓角矩形 10">
            <a:extLst>
              <a:ext uri="{FF2B5EF4-FFF2-40B4-BE49-F238E27FC236}">
                <a16:creationId xmlns:a16="http://schemas.microsoft.com/office/drawing/2014/main" id="{5857ED1E-269C-D419-507E-92BD2DF3EEC4}"/>
              </a:ext>
            </a:extLst>
          </p:cNvPr>
          <p:cNvSpPr/>
          <p:nvPr/>
        </p:nvSpPr>
        <p:spPr>
          <a:xfrm>
            <a:off x="569323" y="1444187"/>
            <a:ext cx="1338828" cy="1650697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0BD4E0E-3D70-F1C9-25DE-AFD18340B6C4}"/>
              </a:ext>
            </a:extLst>
          </p:cNvPr>
          <p:cNvSpPr txBox="1"/>
          <p:nvPr/>
        </p:nvSpPr>
        <p:spPr>
          <a:xfrm>
            <a:off x="941217" y="105273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前端</a:t>
            </a:r>
          </a:p>
        </p:txBody>
      </p:sp>
      <p:sp>
        <p:nvSpPr>
          <p:cNvPr id="74" name="圓角矩形 15">
            <a:extLst>
              <a:ext uri="{FF2B5EF4-FFF2-40B4-BE49-F238E27FC236}">
                <a16:creationId xmlns:a16="http://schemas.microsoft.com/office/drawing/2014/main" id="{9F2794EE-9001-30A5-95A0-2E2297DD78AD}"/>
              </a:ext>
            </a:extLst>
          </p:cNvPr>
          <p:cNvSpPr/>
          <p:nvPr/>
        </p:nvSpPr>
        <p:spPr>
          <a:xfrm>
            <a:off x="3641495" y="1444187"/>
            <a:ext cx="1991238" cy="1647413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D019E60E-E923-D6F6-9959-BAC38F6F53EB}"/>
              </a:ext>
            </a:extLst>
          </p:cNvPr>
          <p:cNvSpPr txBox="1"/>
          <p:nvPr/>
        </p:nvSpPr>
        <p:spPr>
          <a:xfrm>
            <a:off x="4134411" y="105273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伺服器端</a:t>
            </a:r>
          </a:p>
        </p:txBody>
      </p:sp>
      <p:sp>
        <p:nvSpPr>
          <p:cNvPr id="76" name="圓角矩形 14">
            <a:extLst>
              <a:ext uri="{FF2B5EF4-FFF2-40B4-BE49-F238E27FC236}">
                <a16:creationId xmlns:a16="http://schemas.microsoft.com/office/drawing/2014/main" id="{7BB0BDE1-D11F-586E-71EA-384527599633}"/>
              </a:ext>
            </a:extLst>
          </p:cNvPr>
          <p:cNvSpPr/>
          <p:nvPr/>
        </p:nvSpPr>
        <p:spPr>
          <a:xfrm>
            <a:off x="3860263" y="1622163"/>
            <a:ext cx="1553697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取得輸入的</a:t>
            </a:r>
            <a:r>
              <a:rPr lang="en-US" altLang="zh-TW" sz="1400" b="1" dirty="0">
                <a:solidFill>
                  <a:srgbClr val="292929"/>
                </a:solidFill>
              </a:rPr>
              <a:t>Email</a:t>
            </a:r>
            <a:r>
              <a:rPr lang="zh-TW" altLang="en-US" sz="1400" b="1" dirty="0">
                <a:solidFill>
                  <a:srgbClr val="292929"/>
                </a:solidFill>
              </a:rPr>
              <a:t>、密碼</a:t>
            </a: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3907DCC3-DC7A-E8DD-9DBD-21ACADFB5F3C}"/>
              </a:ext>
            </a:extLst>
          </p:cNvPr>
          <p:cNvCxnSpPr>
            <a:cxnSpLocks/>
            <a:stCxn id="51" idx="3"/>
            <a:endCxn id="76" idx="1"/>
          </p:cNvCxnSpPr>
          <p:nvPr/>
        </p:nvCxnSpPr>
        <p:spPr>
          <a:xfrm>
            <a:off x="1834734" y="1846345"/>
            <a:ext cx="2025529" cy="7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BC19622-2742-8F05-962F-9A42EF286CFD}"/>
              </a:ext>
            </a:extLst>
          </p:cNvPr>
          <p:cNvSpPr txBox="1"/>
          <p:nvPr/>
        </p:nvSpPr>
        <p:spPr>
          <a:xfrm>
            <a:off x="2319623" y="1233515"/>
            <a:ext cx="107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1"/>
                </a:solidFill>
              </a:rPr>
              <a:t>Fetch API</a:t>
            </a:r>
          </a:p>
          <a:p>
            <a:pPr algn="ctr"/>
            <a:r>
              <a:rPr lang="en-US" altLang="zh-TW" sz="1600" dirty="0">
                <a:solidFill>
                  <a:schemeClr val="accent1"/>
                </a:solidFill>
              </a:rPr>
              <a:t>POST</a:t>
            </a:r>
            <a:endParaRPr lang="zh-TW" altLang="en-US" sz="1600" dirty="0" err="1">
              <a:solidFill>
                <a:schemeClr val="accent1"/>
              </a:solidFill>
            </a:endParaRPr>
          </a:p>
        </p:txBody>
      </p:sp>
      <p:sp>
        <p:nvSpPr>
          <p:cNvPr id="66" name="圓角矩形 33">
            <a:extLst>
              <a:ext uri="{FF2B5EF4-FFF2-40B4-BE49-F238E27FC236}">
                <a16:creationId xmlns:a16="http://schemas.microsoft.com/office/drawing/2014/main" id="{1045D5A4-8421-8599-A996-0E938BA4EAB8}"/>
              </a:ext>
            </a:extLst>
          </p:cNvPr>
          <p:cNvSpPr/>
          <p:nvPr/>
        </p:nvSpPr>
        <p:spPr>
          <a:xfrm>
            <a:off x="7679528" y="1623520"/>
            <a:ext cx="1128999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檢查</a:t>
            </a:r>
            <a:r>
              <a:rPr lang="en-US" altLang="zh-TW" sz="1400" b="1" dirty="0">
                <a:solidFill>
                  <a:srgbClr val="292929"/>
                </a:solidFill>
              </a:rPr>
              <a:t>Email</a:t>
            </a:r>
            <a:r>
              <a:rPr lang="zh-TW" altLang="en-US" sz="1400" b="1" dirty="0">
                <a:solidFill>
                  <a:srgbClr val="292929"/>
                </a:solidFill>
              </a:rPr>
              <a:t>是否重複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CD18A12-B0C6-51D1-9DD3-DD05EA6D332E}"/>
              </a:ext>
            </a:extLst>
          </p:cNvPr>
          <p:cNvSpPr txBox="1"/>
          <p:nvPr/>
        </p:nvSpPr>
        <p:spPr>
          <a:xfrm>
            <a:off x="5664344" y="2229469"/>
            <a:ext cx="1684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1"/>
                </a:solidFill>
              </a:rPr>
              <a:t>Spring Data JPA</a:t>
            </a:r>
          </a:p>
        </p:txBody>
      </p:sp>
      <p:sp>
        <p:nvSpPr>
          <p:cNvPr id="68" name="圓角矩形 34">
            <a:extLst>
              <a:ext uri="{FF2B5EF4-FFF2-40B4-BE49-F238E27FC236}">
                <a16:creationId xmlns:a16="http://schemas.microsoft.com/office/drawing/2014/main" id="{D513D545-A9AB-F159-D93D-A54BC275340F}"/>
              </a:ext>
            </a:extLst>
          </p:cNvPr>
          <p:cNvSpPr/>
          <p:nvPr/>
        </p:nvSpPr>
        <p:spPr>
          <a:xfrm>
            <a:off x="7348588" y="1444187"/>
            <a:ext cx="1790882" cy="1639688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8661E4DB-C2FC-223C-6B91-A04B402D93BE}"/>
              </a:ext>
            </a:extLst>
          </p:cNvPr>
          <p:cNvSpPr txBox="1"/>
          <p:nvPr/>
        </p:nvSpPr>
        <p:spPr>
          <a:xfrm>
            <a:off x="7843917" y="106423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資料庫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3B5F7EAA-903B-7405-7EDE-1197CF79BACA}"/>
              </a:ext>
            </a:extLst>
          </p:cNvPr>
          <p:cNvSpPr txBox="1"/>
          <p:nvPr/>
        </p:nvSpPr>
        <p:spPr>
          <a:xfrm>
            <a:off x="5936662" y="14194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傳送資料</a:t>
            </a:r>
          </a:p>
        </p:txBody>
      </p:sp>
      <p:sp>
        <p:nvSpPr>
          <p:cNvPr id="62" name="圓角矩形 60">
            <a:extLst>
              <a:ext uri="{FF2B5EF4-FFF2-40B4-BE49-F238E27FC236}">
                <a16:creationId xmlns:a16="http://schemas.microsoft.com/office/drawing/2014/main" id="{E2F3B265-4C7D-7C0B-092B-17468382F50E}"/>
              </a:ext>
            </a:extLst>
          </p:cNvPr>
          <p:cNvSpPr/>
          <p:nvPr/>
        </p:nvSpPr>
        <p:spPr>
          <a:xfrm>
            <a:off x="3860263" y="2434774"/>
            <a:ext cx="1553697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獲得回傳資料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D312E7B8-C115-D992-DEA2-828BBE6D789D}"/>
              </a:ext>
            </a:extLst>
          </p:cNvPr>
          <p:cNvSpPr txBox="1"/>
          <p:nvPr/>
        </p:nvSpPr>
        <p:spPr>
          <a:xfrm>
            <a:off x="5936662" y="27255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回傳資料</a:t>
            </a:r>
          </a:p>
        </p:txBody>
      </p:sp>
      <p:sp>
        <p:nvSpPr>
          <p:cNvPr id="58" name="圓角矩形 117">
            <a:extLst>
              <a:ext uri="{FF2B5EF4-FFF2-40B4-BE49-F238E27FC236}">
                <a16:creationId xmlns:a16="http://schemas.microsoft.com/office/drawing/2014/main" id="{171D0CC7-67AF-C6CC-5220-135B6017874A}"/>
              </a:ext>
            </a:extLst>
          </p:cNvPr>
          <p:cNvSpPr/>
          <p:nvPr/>
        </p:nvSpPr>
        <p:spPr>
          <a:xfrm>
            <a:off x="654969" y="2439117"/>
            <a:ext cx="1167533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>
                <a:solidFill>
                  <a:srgbClr val="292929"/>
                </a:solidFill>
              </a:rPr>
              <a:t>註冊成功、跳轉畫面</a:t>
            </a:r>
            <a:endParaRPr lang="zh-TW" altLang="en-US" sz="1400" b="1" dirty="0">
              <a:solidFill>
                <a:srgbClr val="292929"/>
              </a:solidFill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3BBB099-D9FB-DE0A-DF58-60E4AB66219E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 flipV="1">
            <a:off x="1822502" y="2666128"/>
            <a:ext cx="2037761" cy="4343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27219D8F-B811-7722-C491-4E241249D949}"/>
              </a:ext>
            </a:extLst>
          </p:cNvPr>
          <p:cNvSpPr txBox="1"/>
          <p:nvPr/>
        </p:nvSpPr>
        <p:spPr>
          <a:xfrm>
            <a:off x="2201761" y="27222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chemeClr val="bg1"/>
                </a:solidFill>
              </a:rPr>
              <a:t>回傳給前端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84" name="圓角矩形 33">
            <a:extLst>
              <a:ext uri="{FF2B5EF4-FFF2-40B4-BE49-F238E27FC236}">
                <a16:creationId xmlns:a16="http://schemas.microsoft.com/office/drawing/2014/main" id="{6827DC8B-0EB3-EE63-A0BC-66A7A182CF03}"/>
              </a:ext>
            </a:extLst>
          </p:cNvPr>
          <p:cNvSpPr/>
          <p:nvPr/>
        </p:nvSpPr>
        <p:spPr>
          <a:xfrm>
            <a:off x="7401907" y="2428182"/>
            <a:ext cx="1684243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存入資料庫、建立</a:t>
            </a:r>
            <a:r>
              <a:rPr lang="en-US" altLang="zh-TW" sz="1400" b="1" dirty="0">
                <a:solidFill>
                  <a:srgbClr val="292929"/>
                </a:solidFill>
              </a:rPr>
              <a:t>UID</a:t>
            </a:r>
            <a:r>
              <a:rPr lang="zh-TW" altLang="en-US" sz="1400" b="1" dirty="0">
                <a:solidFill>
                  <a:srgbClr val="292929"/>
                </a:solidFill>
              </a:rPr>
              <a:t>、</a:t>
            </a:r>
            <a:r>
              <a:rPr lang="en-US" altLang="zh-TW" sz="1400" b="1" dirty="0" err="1">
                <a:solidFill>
                  <a:srgbClr val="292929"/>
                </a:solidFill>
              </a:rPr>
              <a:t>Bcrypt</a:t>
            </a:r>
            <a:r>
              <a:rPr lang="zh-TW" altLang="en-US" sz="1400" b="1" dirty="0">
                <a:solidFill>
                  <a:srgbClr val="292929"/>
                </a:solidFill>
              </a:rPr>
              <a:t>加密</a:t>
            </a: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C7E05BEB-3557-A6CE-D58E-93E432CB29C4}"/>
              </a:ext>
            </a:extLst>
          </p:cNvPr>
          <p:cNvCxnSpPr>
            <a:cxnSpLocks/>
          </p:cNvCxnSpPr>
          <p:nvPr/>
        </p:nvCxnSpPr>
        <p:spPr>
          <a:xfrm>
            <a:off x="8229702" y="2157736"/>
            <a:ext cx="0" cy="212590"/>
          </a:xfrm>
          <a:prstGeom prst="straightConnector1">
            <a:avLst/>
          </a:prstGeom>
          <a:ln w="381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FD1F4878-828D-9E86-4860-0915603E6B51}"/>
              </a:ext>
            </a:extLst>
          </p:cNvPr>
          <p:cNvSpPr txBox="1"/>
          <p:nvPr/>
        </p:nvSpPr>
        <p:spPr>
          <a:xfrm>
            <a:off x="1921854" y="2272670"/>
            <a:ext cx="1733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1"/>
                </a:solidFill>
              </a:rPr>
              <a:t>存入</a:t>
            </a:r>
            <a:r>
              <a:rPr lang="en-US" altLang="zh-TW" sz="1600" dirty="0" err="1">
                <a:solidFill>
                  <a:schemeClr val="accent1"/>
                </a:solidFill>
              </a:rPr>
              <a:t>localStorage</a:t>
            </a:r>
            <a:endParaRPr lang="en-US" altLang="zh-TW" sz="1600" dirty="0">
              <a:solidFill>
                <a:schemeClr val="accent1"/>
              </a:solidFill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C81F9946-FF45-B810-534A-579404A6E997}"/>
              </a:ext>
            </a:extLst>
          </p:cNvPr>
          <p:cNvCxnSpPr>
            <a:cxnSpLocks/>
            <a:stCxn id="76" idx="3"/>
            <a:endCxn id="66" idx="1"/>
          </p:cNvCxnSpPr>
          <p:nvPr/>
        </p:nvCxnSpPr>
        <p:spPr>
          <a:xfrm>
            <a:off x="5413960" y="1853517"/>
            <a:ext cx="2265568" cy="1357"/>
          </a:xfrm>
          <a:prstGeom prst="straightConnector1">
            <a:avLst/>
          </a:prstGeom>
          <a:ln w="381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EC3ACF5F-88DD-46C9-5024-35DAC60FE957}"/>
              </a:ext>
            </a:extLst>
          </p:cNvPr>
          <p:cNvCxnSpPr>
            <a:cxnSpLocks/>
            <a:stCxn id="84" idx="1"/>
            <a:endCxn id="62" idx="3"/>
          </p:cNvCxnSpPr>
          <p:nvPr/>
        </p:nvCxnSpPr>
        <p:spPr>
          <a:xfrm flipH="1">
            <a:off x="5413960" y="2659536"/>
            <a:ext cx="1987947" cy="6592"/>
          </a:xfrm>
          <a:prstGeom prst="straightConnector1">
            <a:avLst/>
          </a:prstGeom>
          <a:ln w="381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zgif.com-crop-video">
            <a:hlinkClick r:id="" action="ppaction://media"/>
            <a:extLst>
              <a:ext uri="{FF2B5EF4-FFF2-40B4-BE49-F238E27FC236}">
                <a16:creationId xmlns:a16="http://schemas.microsoft.com/office/drawing/2014/main" id="{708E03DF-A3CA-46A1-8FDA-EC485E8FCC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9623" y="3316707"/>
            <a:ext cx="4860925" cy="327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4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51" grpId="0" animBg="1"/>
      <p:bldP spid="52" grpId="0" animBg="1"/>
      <p:bldP spid="53" grpId="0"/>
      <p:bldP spid="74" grpId="0" animBg="1"/>
      <p:bldP spid="75" grpId="0"/>
      <p:bldP spid="76" grpId="0" animBg="1"/>
      <p:bldP spid="79" grpId="0"/>
      <p:bldP spid="66" grpId="0" animBg="1"/>
      <p:bldP spid="67" grpId="0"/>
      <p:bldP spid="68" grpId="0" animBg="1"/>
      <p:bldP spid="69" grpId="0"/>
      <p:bldP spid="71" grpId="0"/>
      <p:bldP spid="62" grpId="0" animBg="1"/>
      <p:bldP spid="65" grpId="0"/>
      <p:bldP spid="58" grpId="0" animBg="1"/>
      <p:bldP spid="60" grpId="0"/>
      <p:bldP spid="84" grpId="0" animBg="1"/>
      <p:bldP spid="9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第三方登入</a:t>
            </a:r>
            <a:r>
              <a:rPr lang="en-US" altLang="zh-TW" dirty="0"/>
              <a:t>-Firebase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9F45470-2CD9-4C35-BC94-74DBDF3C68AD}"/>
              </a:ext>
            </a:extLst>
          </p:cNvPr>
          <p:cNvSpPr txBox="1"/>
          <p:nvPr/>
        </p:nvSpPr>
        <p:spPr>
          <a:xfrm>
            <a:off x="1928664" y="999088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rgbClr val="FFFFFF"/>
                </a:solidFill>
              </a:rPr>
              <a:t>提供</a:t>
            </a:r>
            <a:r>
              <a:rPr lang="en-US" altLang="zh-TW" sz="2000" dirty="0">
                <a:solidFill>
                  <a:srgbClr val="FFFFFF"/>
                </a:solidFill>
              </a:rPr>
              <a:t>SDK</a:t>
            </a:r>
            <a:r>
              <a:rPr lang="zh-TW" altLang="en-US" sz="2000" dirty="0">
                <a:solidFill>
                  <a:srgbClr val="FFFFFF"/>
                </a:solidFill>
              </a:rPr>
              <a:t>導入專案，有現成的</a:t>
            </a:r>
            <a:r>
              <a:rPr lang="en-US" altLang="zh-TW" sz="2000" dirty="0">
                <a:solidFill>
                  <a:srgbClr val="FFFFFF"/>
                </a:solidFill>
              </a:rPr>
              <a:t>API</a:t>
            </a:r>
            <a:r>
              <a:rPr lang="zh-TW" altLang="en-US" sz="2000" dirty="0">
                <a:solidFill>
                  <a:srgbClr val="FFFFFF"/>
                </a:solidFill>
              </a:rPr>
              <a:t>可以直接使用。</a:t>
            </a:r>
            <a:endParaRPr lang="en-US" altLang="zh-TW" sz="2000" dirty="0">
              <a:solidFill>
                <a:srgbClr val="FFFFFF"/>
              </a:solidFill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9E0D1503-A1B1-41E2-881B-2F3E6E403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3891237"/>
            <a:ext cx="7056784" cy="2453095"/>
          </a:xfrm>
          <a:prstGeom prst="rect">
            <a:avLst/>
          </a:prstGeom>
        </p:spPr>
      </p:pic>
      <p:pic>
        <p:nvPicPr>
          <p:cNvPr id="21" name="圖形 20" descr="游標">
            <a:extLst>
              <a:ext uri="{FF2B5EF4-FFF2-40B4-BE49-F238E27FC236}">
                <a16:creationId xmlns:a16="http://schemas.microsoft.com/office/drawing/2014/main" id="{9632CCF2-2BA2-46DA-A7D7-F0F938AFC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88175">
            <a:off x="7916134" y="3925755"/>
            <a:ext cx="759436" cy="69161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8486C61-F4AA-40C3-B237-E5A8CADC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8E33563-C168-4B7D-A18C-5AE72FF37461}"/>
              </a:ext>
            </a:extLst>
          </p:cNvPr>
          <p:cNvGrpSpPr/>
          <p:nvPr/>
        </p:nvGrpSpPr>
        <p:grpSpPr>
          <a:xfrm>
            <a:off x="2142559" y="1844703"/>
            <a:ext cx="1092631" cy="1255366"/>
            <a:chOff x="1819322" y="1751679"/>
            <a:chExt cx="1092631" cy="1255366"/>
          </a:xfrm>
        </p:grpSpPr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3F36A5F9-C6F9-49A3-AB3B-48CAB03942E3}"/>
                </a:ext>
              </a:extLst>
            </p:cNvPr>
            <p:cNvSpPr txBox="1"/>
            <p:nvPr/>
          </p:nvSpPr>
          <p:spPr>
            <a:xfrm>
              <a:off x="1828618" y="1751679"/>
              <a:ext cx="10278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4"/>
                  </a:solidFill>
                </a:rPr>
                <a:t>Firebase</a:t>
              </a:r>
              <a:endParaRPr lang="zh-TW" altLang="en-US" sz="1600" b="1" dirty="0">
                <a:solidFill>
                  <a:schemeClr val="accent4"/>
                </a:solidFill>
              </a:endParaRPr>
            </a:p>
          </p:txBody>
        </p:sp>
        <p:sp>
          <p:nvSpPr>
            <p:cNvPr id="7" name="六邊形 6">
              <a:extLst>
                <a:ext uri="{FF2B5EF4-FFF2-40B4-BE49-F238E27FC236}">
                  <a16:creationId xmlns:a16="http://schemas.microsoft.com/office/drawing/2014/main" id="{00116BC9-0E27-4CE1-89A4-F7C8E7C807AF}"/>
                </a:ext>
              </a:extLst>
            </p:cNvPr>
            <p:cNvSpPr/>
            <p:nvPr/>
          </p:nvSpPr>
          <p:spPr>
            <a:xfrm>
              <a:off x="1819322" y="2076665"/>
              <a:ext cx="1092631" cy="930380"/>
            </a:xfrm>
            <a:prstGeom prst="hexagon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新建</a:t>
              </a:r>
              <a:endParaRPr lang="en-US" altLang="zh-TW" sz="1400" b="1" dirty="0">
                <a:solidFill>
                  <a:schemeClr val="bg2">
                    <a:lumMod val="10000"/>
                  </a:schemeClr>
                </a:solidFill>
              </a:endParaRPr>
            </a:p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專案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EBD367D5-590B-44C6-B621-EEC2871383C1}"/>
              </a:ext>
            </a:extLst>
          </p:cNvPr>
          <p:cNvGrpSpPr/>
          <p:nvPr/>
        </p:nvGrpSpPr>
        <p:grpSpPr>
          <a:xfrm>
            <a:off x="3828552" y="1557915"/>
            <a:ext cx="1092631" cy="1273046"/>
            <a:chOff x="3189924" y="2249953"/>
            <a:chExt cx="1092631" cy="1273046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7A13DF7-0FDA-4DA3-83E6-2E689826718E}"/>
                </a:ext>
              </a:extLst>
            </p:cNvPr>
            <p:cNvSpPr txBox="1"/>
            <p:nvPr/>
          </p:nvSpPr>
          <p:spPr>
            <a:xfrm>
              <a:off x="3422585" y="2249953"/>
              <a:ext cx="595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4"/>
                  </a:solidFill>
                </a:rPr>
                <a:t>專案</a:t>
              </a:r>
            </a:p>
          </p:txBody>
        </p:sp>
        <p:sp>
          <p:nvSpPr>
            <p:cNvPr id="28" name="六邊形 27">
              <a:extLst>
                <a:ext uri="{FF2B5EF4-FFF2-40B4-BE49-F238E27FC236}">
                  <a16:creationId xmlns:a16="http://schemas.microsoft.com/office/drawing/2014/main" id="{6B95F5BA-4BD1-4D48-AC8A-C1CF70F5CC99}"/>
                </a:ext>
              </a:extLst>
            </p:cNvPr>
            <p:cNvSpPr/>
            <p:nvPr/>
          </p:nvSpPr>
          <p:spPr>
            <a:xfrm>
              <a:off x="3189924" y="2592619"/>
              <a:ext cx="1092631" cy="930380"/>
            </a:xfrm>
            <a:prstGeom prst="hexagon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導入</a:t>
              </a:r>
              <a:r>
                <a:rPr lang="en-US" altLang="zh-TW" sz="1400" b="1" dirty="0">
                  <a:solidFill>
                    <a:schemeClr val="bg2">
                      <a:lumMod val="10000"/>
                    </a:schemeClr>
                  </a:solidFill>
                </a:rPr>
                <a:t>SDK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C6DD3632-E1AE-400D-ADC8-B5628BFEC05D}"/>
              </a:ext>
            </a:extLst>
          </p:cNvPr>
          <p:cNvGrpSpPr/>
          <p:nvPr/>
        </p:nvGrpSpPr>
        <p:grpSpPr>
          <a:xfrm>
            <a:off x="5323284" y="2271217"/>
            <a:ext cx="1092631" cy="1242913"/>
            <a:chOff x="6167649" y="1769707"/>
            <a:chExt cx="1092631" cy="1242913"/>
          </a:xfrm>
        </p:grpSpPr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41A046A1-46B4-4E1A-8092-F7771EDCF3AF}"/>
                </a:ext>
              </a:extLst>
            </p:cNvPr>
            <p:cNvSpPr txBox="1"/>
            <p:nvPr/>
          </p:nvSpPr>
          <p:spPr>
            <a:xfrm>
              <a:off x="6416446" y="176970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4"/>
                  </a:solidFill>
                </a:rPr>
                <a:t>用戶</a:t>
              </a:r>
            </a:p>
          </p:txBody>
        </p:sp>
        <p:sp>
          <p:nvSpPr>
            <p:cNvPr id="30" name="六邊形 29">
              <a:extLst>
                <a:ext uri="{FF2B5EF4-FFF2-40B4-BE49-F238E27FC236}">
                  <a16:creationId xmlns:a16="http://schemas.microsoft.com/office/drawing/2014/main" id="{BD072995-7027-4E8B-A502-DBF65F89FA58}"/>
                </a:ext>
              </a:extLst>
            </p:cNvPr>
            <p:cNvSpPr/>
            <p:nvPr/>
          </p:nvSpPr>
          <p:spPr>
            <a:xfrm>
              <a:off x="6167649" y="2082240"/>
              <a:ext cx="1092631" cy="930380"/>
            </a:xfrm>
            <a:prstGeom prst="hexagon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選擇第三方登入平台</a:t>
              </a:r>
              <a:endParaRPr lang="en-US" altLang="zh-TW" sz="14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9" name="箭號: 弧形下彎 8">
            <a:extLst>
              <a:ext uri="{FF2B5EF4-FFF2-40B4-BE49-F238E27FC236}">
                <a16:creationId xmlns:a16="http://schemas.microsoft.com/office/drawing/2014/main" id="{E24F36AF-9B5C-4A5B-AABF-A2A189695B39}"/>
              </a:ext>
            </a:extLst>
          </p:cNvPr>
          <p:cNvSpPr/>
          <p:nvPr/>
        </p:nvSpPr>
        <p:spPr>
          <a:xfrm rot="20309755">
            <a:off x="3121034" y="1967118"/>
            <a:ext cx="776447" cy="365549"/>
          </a:xfrm>
          <a:prstGeom prst="curvedDownArrow">
            <a:avLst>
              <a:gd name="adj1" fmla="val 25000"/>
              <a:gd name="adj2" fmla="val 50000"/>
              <a:gd name="adj3" fmla="val 37078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箭號: 弧形上彎 10">
            <a:extLst>
              <a:ext uri="{FF2B5EF4-FFF2-40B4-BE49-F238E27FC236}">
                <a16:creationId xmlns:a16="http://schemas.microsoft.com/office/drawing/2014/main" id="{DC6950A4-75D5-4965-8654-A6EAA3EC352E}"/>
              </a:ext>
            </a:extLst>
          </p:cNvPr>
          <p:cNvSpPr/>
          <p:nvPr/>
        </p:nvSpPr>
        <p:spPr>
          <a:xfrm rot="1603859">
            <a:off x="4354127" y="3082896"/>
            <a:ext cx="952775" cy="450233"/>
          </a:xfrm>
          <a:prstGeom prst="curvedUpArrow">
            <a:avLst>
              <a:gd name="adj1" fmla="val 25000"/>
              <a:gd name="adj2" fmla="val 57720"/>
              <a:gd name="adj3" fmla="val 3265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箭號: 弧形下彎 11">
            <a:extLst>
              <a:ext uri="{FF2B5EF4-FFF2-40B4-BE49-F238E27FC236}">
                <a16:creationId xmlns:a16="http://schemas.microsoft.com/office/drawing/2014/main" id="{569A6E5A-5509-41DD-A27E-5CEA70EBB66B}"/>
              </a:ext>
            </a:extLst>
          </p:cNvPr>
          <p:cNvSpPr/>
          <p:nvPr/>
        </p:nvSpPr>
        <p:spPr>
          <a:xfrm rot="20509776">
            <a:off x="6149436" y="1929547"/>
            <a:ext cx="792088" cy="427141"/>
          </a:xfrm>
          <a:prstGeom prst="curved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BAE6538-51D4-857C-8CCD-81561A132182}"/>
              </a:ext>
            </a:extLst>
          </p:cNvPr>
          <p:cNvGrpSpPr/>
          <p:nvPr/>
        </p:nvGrpSpPr>
        <p:grpSpPr>
          <a:xfrm>
            <a:off x="6842734" y="1790762"/>
            <a:ext cx="1092631" cy="1278802"/>
            <a:chOff x="6842734" y="1790762"/>
            <a:chExt cx="1092631" cy="1278802"/>
          </a:xfrm>
        </p:grpSpPr>
        <p:sp>
          <p:nvSpPr>
            <p:cNvPr id="29" name="六邊形 28">
              <a:extLst>
                <a:ext uri="{FF2B5EF4-FFF2-40B4-BE49-F238E27FC236}">
                  <a16:creationId xmlns:a16="http://schemas.microsoft.com/office/drawing/2014/main" id="{06EA7F38-2E1A-4587-93B0-5F6D16502044}"/>
                </a:ext>
              </a:extLst>
            </p:cNvPr>
            <p:cNvSpPr/>
            <p:nvPr/>
          </p:nvSpPr>
          <p:spPr>
            <a:xfrm>
              <a:off x="6842734" y="2139184"/>
              <a:ext cx="1092631" cy="930380"/>
            </a:xfrm>
            <a:prstGeom prst="hexagon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獲取</a:t>
              </a:r>
              <a:endParaRPr lang="en-US" altLang="zh-TW" sz="1400" b="1" dirty="0">
                <a:solidFill>
                  <a:schemeClr val="bg2">
                    <a:lumMod val="10000"/>
                  </a:schemeClr>
                </a:solidFill>
              </a:endParaRPr>
            </a:p>
            <a:p>
              <a:pPr algn="ctr"/>
              <a:r>
                <a:rPr lang="zh-TW" altLang="en-US" sz="1400" b="1" dirty="0">
                  <a:solidFill>
                    <a:schemeClr val="bg2">
                      <a:lumMod val="10000"/>
                    </a:schemeClr>
                  </a:solidFill>
                </a:rPr>
                <a:t>第三方資訊</a:t>
              </a:r>
              <a:endParaRPr lang="en-US" altLang="zh-TW" sz="14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BC2E3B80-24A3-1B8E-4CB7-607EB95F8903}"/>
                </a:ext>
              </a:extLst>
            </p:cNvPr>
            <p:cNvSpPr txBox="1"/>
            <p:nvPr/>
          </p:nvSpPr>
          <p:spPr>
            <a:xfrm>
              <a:off x="7086310" y="179076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4"/>
                  </a:solidFill>
                </a:rPr>
                <a:t>專案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64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會員資料更新</a:t>
            </a:r>
          </a:p>
        </p:txBody>
      </p:sp>
    </p:spTree>
    <p:extLst>
      <p:ext uri="{BB962C8B-B14F-4D97-AF65-F5344CB8AC3E}">
        <p14:creationId xmlns:p14="http://schemas.microsoft.com/office/powerpoint/2010/main" val="162064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9D58-A553-05EA-5B54-2072626D8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2E1D0A2-B8FB-E6DB-207A-69BB7F728C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2520" y="188640"/>
            <a:ext cx="8640960" cy="69269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攔截器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6DD751DB-DD76-CBB1-DBE9-62D15D2DB679}"/>
              </a:ext>
            </a:extLst>
          </p:cNvPr>
          <p:cNvSpPr txBox="1">
            <a:spLocks/>
          </p:cNvSpPr>
          <p:nvPr/>
        </p:nvSpPr>
        <p:spPr bwMode="ltGray">
          <a:xfrm>
            <a:off x="1065600" y="979200"/>
            <a:ext cx="8207880" cy="489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•"/>
              <a:defRPr sz="2800" b="1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714375" indent="-3524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itchFamily="34" charset="0"/>
              <a:buChar char="–"/>
              <a:defRPr sz="2400" b="1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107632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itchFamily="34" charset="0"/>
              <a:buChar char="•"/>
              <a:defRPr sz="20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4302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itchFamily="34" charset="0"/>
              <a:buChar char="–"/>
              <a:defRPr sz="18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619250" indent="-2762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 pitchFamily="34" charset="0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" name="圓角矩形 6">
            <a:extLst>
              <a:ext uri="{FF2B5EF4-FFF2-40B4-BE49-F238E27FC236}">
                <a16:creationId xmlns:a16="http://schemas.microsoft.com/office/drawing/2014/main" id="{14AD08DA-D654-6B9E-EA2E-7EA73D9E6347}"/>
              </a:ext>
            </a:extLst>
          </p:cNvPr>
          <p:cNvSpPr/>
          <p:nvPr/>
        </p:nvSpPr>
        <p:spPr>
          <a:xfrm>
            <a:off x="724932" y="2490136"/>
            <a:ext cx="1084494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進入</a:t>
            </a:r>
            <a:endParaRPr lang="en-US" altLang="zh-TW" sz="1400" b="1" dirty="0">
              <a:solidFill>
                <a:srgbClr val="292929"/>
              </a:solidFill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特定網頁</a:t>
            </a:r>
          </a:p>
        </p:txBody>
      </p:sp>
      <p:sp>
        <p:nvSpPr>
          <p:cNvPr id="9" name="圓角矩形 10">
            <a:extLst>
              <a:ext uri="{FF2B5EF4-FFF2-40B4-BE49-F238E27FC236}">
                <a16:creationId xmlns:a16="http://schemas.microsoft.com/office/drawing/2014/main" id="{BB756B9E-90E7-020E-8C38-27A2705A6DE7}"/>
              </a:ext>
            </a:extLst>
          </p:cNvPr>
          <p:cNvSpPr/>
          <p:nvPr/>
        </p:nvSpPr>
        <p:spPr>
          <a:xfrm>
            <a:off x="600020" y="2317289"/>
            <a:ext cx="1334320" cy="2335847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5ABB2E4-4640-E47A-EBEC-D7E0C8128EF5}"/>
              </a:ext>
            </a:extLst>
          </p:cNvPr>
          <p:cNvSpPr txBox="1"/>
          <p:nvPr/>
        </p:nvSpPr>
        <p:spPr>
          <a:xfrm>
            <a:off x="948656" y="193176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前端</a:t>
            </a:r>
          </a:p>
        </p:txBody>
      </p:sp>
      <p:sp>
        <p:nvSpPr>
          <p:cNvPr id="38" name="圓角矩形 15">
            <a:extLst>
              <a:ext uri="{FF2B5EF4-FFF2-40B4-BE49-F238E27FC236}">
                <a16:creationId xmlns:a16="http://schemas.microsoft.com/office/drawing/2014/main" id="{1EC68EA7-99CA-47E6-637B-01B3BD074708}"/>
              </a:ext>
            </a:extLst>
          </p:cNvPr>
          <p:cNvSpPr/>
          <p:nvPr/>
        </p:nvSpPr>
        <p:spPr>
          <a:xfrm>
            <a:off x="4134522" y="2314575"/>
            <a:ext cx="1991238" cy="1647413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7437901-5BF2-27EE-DAD2-DCEAE24AF0F6}"/>
              </a:ext>
            </a:extLst>
          </p:cNvPr>
          <p:cNvSpPr txBox="1"/>
          <p:nvPr/>
        </p:nvSpPr>
        <p:spPr>
          <a:xfrm>
            <a:off x="4999441" y="1923124"/>
            <a:ext cx="184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TW" altLang="en-US" sz="1600" dirty="0">
              <a:solidFill>
                <a:schemeClr val="accent4"/>
              </a:solidFill>
            </a:endParaRPr>
          </a:p>
        </p:txBody>
      </p:sp>
      <p:sp>
        <p:nvSpPr>
          <p:cNvPr id="40" name="圓角矩形 14">
            <a:extLst>
              <a:ext uri="{FF2B5EF4-FFF2-40B4-BE49-F238E27FC236}">
                <a16:creationId xmlns:a16="http://schemas.microsoft.com/office/drawing/2014/main" id="{ECA3E8DB-0858-2211-E9CF-BA263EE49619}"/>
              </a:ext>
            </a:extLst>
          </p:cNvPr>
          <p:cNvSpPr/>
          <p:nvPr/>
        </p:nvSpPr>
        <p:spPr>
          <a:xfrm>
            <a:off x="4367332" y="2492551"/>
            <a:ext cx="1553697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檢查</a:t>
            </a:r>
            <a:r>
              <a:rPr lang="en-US" altLang="zh-TW" sz="1400" b="1" dirty="0">
                <a:solidFill>
                  <a:srgbClr val="292929"/>
                </a:solidFill>
              </a:rPr>
              <a:t>UID</a:t>
            </a:r>
            <a:endParaRPr lang="zh-TW" altLang="en-US" sz="1400" b="1" dirty="0">
              <a:solidFill>
                <a:srgbClr val="292929"/>
              </a:solidFill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4C9C7CE-7D1A-1B49-656E-3DA74DFF14A4}"/>
              </a:ext>
            </a:extLst>
          </p:cNvPr>
          <p:cNvCxnSpPr>
            <a:cxnSpLocks/>
            <a:stCxn id="8" idx="3"/>
            <a:endCxn id="40" idx="1"/>
          </p:cNvCxnSpPr>
          <p:nvPr/>
        </p:nvCxnSpPr>
        <p:spPr>
          <a:xfrm>
            <a:off x="1809426" y="2721490"/>
            <a:ext cx="2557906" cy="2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A9CBB23-3253-C9A2-D394-BD1DBB1DE136}"/>
              </a:ext>
            </a:extLst>
          </p:cNvPr>
          <p:cNvSpPr txBox="1"/>
          <p:nvPr/>
        </p:nvSpPr>
        <p:spPr>
          <a:xfrm>
            <a:off x="2290232" y="2297302"/>
            <a:ext cx="1539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1"/>
                </a:solidFill>
              </a:rPr>
              <a:t>傳送</a:t>
            </a:r>
            <a:r>
              <a:rPr lang="en-US" altLang="zh-TW" sz="1600" dirty="0">
                <a:solidFill>
                  <a:schemeClr val="accent1"/>
                </a:solidFill>
              </a:rPr>
              <a:t>HTTP</a:t>
            </a:r>
            <a:r>
              <a:rPr lang="zh-TW" altLang="en-US" sz="1600" dirty="0">
                <a:solidFill>
                  <a:schemeClr val="accent1"/>
                </a:solidFill>
              </a:rPr>
              <a:t>請求</a:t>
            </a:r>
          </a:p>
        </p:txBody>
      </p:sp>
      <p:sp>
        <p:nvSpPr>
          <p:cNvPr id="32" name="圓角矩形 33">
            <a:extLst>
              <a:ext uri="{FF2B5EF4-FFF2-40B4-BE49-F238E27FC236}">
                <a16:creationId xmlns:a16="http://schemas.microsoft.com/office/drawing/2014/main" id="{2867DC83-C664-D705-87E2-1C574B7145B7}"/>
              </a:ext>
            </a:extLst>
          </p:cNvPr>
          <p:cNvSpPr/>
          <p:nvPr/>
        </p:nvSpPr>
        <p:spPr>
          <a:xfrm>
            <a:off x="7884396" y="3199997"/>
            <a:ext cx="1343076" cy="65265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bg2">
                    <a:lumMod val="10000"/>
                  </a:schemeClr>
                </a:solidFill>
              </a:rPr>
              <a:t>系統回應</a:t>
            </a:r>
          </a:p>
        </p:txBody>
      </p:sp>
      <p:sp>
        <p:nvSpPr>
          <p:cNvPr id="34" name="圓角矩形 34">
            <a:extLst>
              <a:ext uri="{FF2B5EF4-FFF2-40B4-BE49-F238E27FC236}">
                <a16:creationId xmlns:a16="http://schemas.microsoft.com/office/drawing/2014/main" id="{ADE90763-907E-C486-2721-5C5BF3129CEE}"/>
              </a:ext>
            </a:extLst>
          </p:cNvPr>
          <p:cNvSpPr/>
          <p:nvPr/>
        </p:nvSpPr>
        <p:spPr>
          <a:xfrm>
            <a:off x="7838388" y="2359542"/>
            <a:ext cx="1435092" cy="2293594"/>
          </a:xfrm>
          <a:prstGeom prst="roundRect">
            <a:avLst/>
          </a:prstGeom>
          <a:noFill/>
          <a:ln w="2857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C841DE1-C3B8-5EF4-1BEA-79034DDF172A}"/>
              </a:ext>
            </a:extLst>
          </p:cNvPr>
          <p:cNvSpPr txBox="1"/>
          <p:nvPr/>
        </p:nvSpPr>
        <p:spPr>
          <a:xfrm>
            <a:off x="8049931" y="192152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伺服器端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6AD0919-4633-AF79-1B62-6FD91A93E6C0}"/>
              </a:ext>
            </a:extLst>
          </p:cNvPr>
          <p:cNvSpPr txBox="1"/>
          <p:nvPr/>
        </p:nvSpPr>
        <p:spPr>
          <a:xfrm>
            <a:off x="6153839" y="23125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9" name="圓角矩形 60">
            <a:extLst>
              <a:ext uri="{FF2B5EF4-FFF2-40B4-BE49-F238E27FC236}">
                <a16:creationId xmlns:a16="http://schemas.microsoft.com/office/drawing/2014/main" id="{EF1D494D-F13A-2E1F-E342-E577C7E7F0C9}"/>
              </a:ext>
            </a:extLst>
          </p:cNvPr>
          <p:cNvSpPr/>
          <p:nvPr/>
        </p:nvSpPr>
        <p:spPr>
          <a:xfrm>
            <a:off x="4247153" y="3359459"/>
            <a:ext cx="828251" cy="33372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292929"/>
                </a:solidFill>
              </a:rPr>
              <a:t>False</a:t>
            </a:r>
            <a:endParaRPr lang="zh-TW" altLang="en-US" sz="1400" b="1" dirty="0">
              <a:solidFill>
                <a:srgbClr val="292929"/>
              </a:solidFill>
            </a:endParaRPr>
          </a:p>
        </p:txBody>
      </p:sp>
      <p:sp>
        <p:nvSpPr>
          <p:cNvPr id="21" name="圓角矩形 117">
            <a:extLst>
              <a:ext uri="{FF2B5EF4-FFF2-40B4-BE49-F238E27FC236}">
                <a16:creationId xmlns:a16="http://schemas.microsoft.com/office/drawing/2014/main" id="{B638F6E1-0AC5-33F7-AC3A-0B88D410A69E}"/>
              </a:ext>
            </a:extLst>
          </p:cNvPr>
          <p:cNvSpPr/>
          <p:nvPr/>
        </p:nvSpPr>
        <p:spPr>
          <a:xfrm>
            <a:off x="683413" y="3303124"/>
            <a:ext cx="1167533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</a:rPr>
              <a:t>跳轉至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pPr algn="ctr"/>
            <a:r>
              <a:rPr lang="zh-TW" altLang="en-US" sz="1400" b="1" dirty="0">
                <a:solidFill>
                  <a:srgbClr val="FF0000"/>
                </a:solidFill>
              </a:rPr>
              <a:t>登入畫面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59F9858-5100-2337-25E1-5149A0CA60AA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1850946" y="3526322"/>
            <a:ext cx="2396207" cy="815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75C819C-0FE4-2A98-459C-739C60B8755E}"/>
              </a:ext>
            </a:extLst>
          </p:cNvPr>
          <p:cNvSpPr txBox="1"/>
          <p:nvPr/>
        </p:nvSpPr>
        <p:spPr>
          <a:xfrm>
            <a:off x="6870047" y="2292341"/>
            <a:ext cx="184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TW" sz="1600" dirty="0">
              <a:solidFill>
                <a:schemeClr val="accent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D3C1BD0-A49A-4028-A543-60F265EB90EF}"/>
              </a:ext>
            </a:extLst>
          </p:cNvPr>
          <p:cNvSpPr txBox="1"/>
          <p:nvPr/>
        </p:nvSpPr>
        <p:spPr>
          <a:xfrm>
            <a:off x="4730031" y="191683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accent4"/>
                </a:solidFill>
              </a:rPr>
              <a:t>攔截器</a:t>
            </a:r>
          </a:p>
        </p:txBody>
      </p:sp>
      <p:sp>
        <p:nvSpPr>
          <p:cNvPr id="46" name="圓角矩形 60">
            <a:extLst>
              <a:ext uri="{FF2B5EF4-FFF2-40B4-BE49-F238E27FC236}">
                <a16:creationId xmlns:a16="http://schemas.microsoft.com/office/drawing/2014/main" id="{676E1831-5407-4040-8510-4A4AADAC5CD1}"/>
              </a:ext>
            </a:extLst>
          </p:cNvPr>
          <p:cNvSpPr/>
          <p:nvPr/>
        </p:nvSpPr>
        <p:spPr>
          <a:xfrm>
            <a:off x="5223461" y="3359459"/>
            <a:ext cx="828251" cy="33372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292929"/>
                </a:solidFill>
              </a:rPr>
              <a:t>True</a:t>
            </a:r>
            <a:endParaRPr lang="zh-TW" altLang="en-US" sz="1400" b="1" dirty="0">
              <a:solidFill>
                <a:srgbClr val="292929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81ED37A-923B-480C-A052-B6A0AB664F7D}"/>
              </a:ext>
            </a:extLst>
          </p:cNvPr>
          <p:cNvCxnSpPr>
            <a:stCxn id="40" idx="2"/>
            <a:endCxn id="29" idx="0"/>
          </p:cNvCxnSpPr>
          <p:nvPr/>
        </p:nvCxnSpPr>
        <p:spPr>
          <a:xfrm flipH="1">
            <a:off x="4661279" y="2955258"/>
            <a:ext cx="482902" cy="4042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1F428E4-7FA1-4F4B-B618-9C14E62661F5}"/>
              </a:ext>
            </a:extLst>
          </p:cNvPr>
          <p:cNvCxnSpPr>
            <a:stCxn id="40" idx="2"/>
            <a:endCxn id="46" idx="0"/>
          </p:cNvCxnSpPr>
          <p:nvPr/>
        </p:nvCxnSpPr>
        <p:spPr>
          <a:xfrm>
            <a:off x="5144181" y="2955258"/>
            <a:ext cx="493406" cy="4042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93B97194-EFF2-40B2-BBA9-4E98C691ED52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6051712" y="3526322"/>
            <a:ext cx="18326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21CBE87-FFE7-4CBD-AEFB-545A77283BAF}"/>
              </a:ext>
            </a:extLst>
          </p:cNvPr>
          <p:cNvSpPr txBox="1"/>
          <p:nvPr/>
        </p:nvSpPr>
        <p:spPr>
          <a:xfrm>
            <a:off x="6236818" y="3613245"/>
            <a:ext cx="1477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1"/>
                </a:solidFill>
              </a:rPr>
              <a:t>True:</a:t>
            </a:r>
            <a:r>
              <a:rPr lang="zh-TW" altLang="en-US" sz="1600" dirty="0">
                <a:solidFill>
                  <a:schemeClr val="accent1"/>
                </a:solidFill>
              </a:rPr>
              <a:t>發送請求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734EDD54-BF4F-4DEF-BDB9-A692EB3E8BFF}"/>
              </a:ext>
            </a:extLst>
          </p:cNvPr>
          <p:cNvSpPr txBox="1"/>
          <p:nvPr/>
        </p:nvSpPr>
        <p:spPr>
          <a:xfrm>
            <a:off x="2268900" y="3623433"/>
            <a:ext cx="1563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1"/>
                </a:solidFill>
              </a:rPr>
              <a:t>False:</a:t>
            </a:r>
            <a:r>
              <a:rPr lang="zh-TW" altLang="en-US" sz="1600" dirty="0">
                <a:solidFill>
                  <a:schemeClr val="accent1"/>
                </a:solidFill>
              </a:rPr>
              <a:t>終止請求</a:t>
            </a:r>
          </a:p>
        </p:txBody>
      </p:sp>
      <p:sp>
        <p:nvSpPr>
          <p:cNvPr id="60" name="圓角矩形 6">
            <a:extLst>
              <a:ext uri="{FF2B5EF4-FFF2-40B4-BE49-F238E27FC236}">
                <a16:creationId xmlns:a16="http://schemas.microsoft.com/office/drawing/2014/main" id="{0A642A46-9BE0-4ADF-B680-724908885393}"/>
              </a:ext>
            </a:extLst>
          </p:cNvPr>
          <p:cNvSpPr/>
          <p:nvPr/>
        </p:nvSpPr>
        <p:spPr>
          <a:xfrm>
            <a:off x="724932" y="4007371"/>
            <a:ext cx="1084494" cy="4627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回到</a:t>
            </a:r>
            <a:endParaRPr lang="en-US" altLang="zh-TW" sz="1400" b="1" dirty="0">
              <a:solidFill>
                <a:srgbClr val="292929"/>
              </a:solidFill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</a:rPr>
              <a:t>特定網頁</a:t>
            </a:r>
          </a:p>
        </p:txBody>
      </p:sp>
      <p:cxnSp>
        <p:nvCxnSpPr>
          <p:cNvPr id="62" name="接點: 肘形 61">
            <a:extLst>
              <a:ext uri="{FF2B5EF4-FFF2-40B4-BE49-F238E27FC236}">
                <a16:creationId xmlns:a16="http://schemas.microsoft.com/office/drawing/2014/main" id="{4577FDEE-95C3-4B61-8958-AEF18AFB6C32}"/>
              </a:ext>
            </a:extLst>
          </p:cNvPr>
          <p:cNvCxnSpPr>
            <a:cxnSpLocks/>
            <a:stCxn id="32" idx="2"/>
            <a:endCxn id="60" idx="3"/>
          </p:cNvCxnSpPr>
          <p:nvPr/>
        </p:nvCxnSpPr>
        <p:spPr>
          <a:xfrm rot="5400000">
            <a:off x="4989641" y="672432"/>
            <a:ext cx="386078" cy="67465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29FE290-8A8A-4547-8820-D0CC486D21C9}"/>
              </a:ext>
            </a:extLst>
          </p:cNvPr>
          <p:cNvSpPr txBox="1"/>
          <p:nvPr/>
        </p:nvSpPr>
        <p:spPr>
          <a:xfrm>
            <a:off x="4679978" y="43088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FFFFFF"/>
                </a:solidFill>
              </a:rPr>
              <a:t>返回頁面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511EF62-8838-493F-B13A-F9BD1F0FFA25}"/>
              </a:ext>
            </a:extLst>
          </p:cNvPr>
          <p:cNvSpPr txBox="1"/>
          <p:nvPr/>
        </p:nvSpPr>
        <p:spPr>
          <a:xfrm>
            <a:off x="2010961" y="1118727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rgbClr val="FFFFFF"/>
                </a:solidFill>
              </a:rPr>
              <a:t>進入會員專區、訂單付款、評論編輯畫面之限制</a:t>
            </a:r>
            <a:endParaRPr lang="en-US" altLang="zh-TW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9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38" grpId="0" animBg="1"/>
      <p:bldP spid="40" grpId="0" animBg="1"/>
      <p:bldP spid="42" grpId="0"/>
      <p:bldP spid="32" grpId="0" animBg="1"/>
      <p:bldP spid="34" grpId="0" animBg="1"/>
      <p:bldP spid="35" grpId="0"/>
      <p:bldP spid="29" grpId="0" animBg="1"/>
      <p:bldP spid="21" grpId="0" animBg="1"/>
      <p:bldP spid="43" grpId="0"/>
      <p:bldP spid="46" grpId="0" animBg="1"/>
      <p:bldP spid="54" grpId="0"/>
      <p:bldP spid="59" grpId="0"/>
      <p:bldP spid="60" grpId="0" animBg="1"/>
      <p:bldP spid="6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3AF539-A230-9897-F849-6A4F18E0B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464"/>
            <a:ext cx="9906000" cy="53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34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F8C2D5-0A11-5740-4225-C1F6A3090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595"/>
            <a:ext cx="9906000" cy="536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2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C08A07-D82A-CA04-6DE3-79F09750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906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0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792C38-54C6-3879-1F72-817F357BD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647"/>
            <a:ext cx="9906000" cy="535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3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DC1856-B21E-5170-B4B2-B4C85B57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764"/>
            <a:ext cx="9906000" cy="537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46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F883814-9C47-A41A-07C3-A4466DB8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481"/>
            <a:ext cx="9906000" cy="53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42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0B89DB-B8B6-E4E4-E6E2-08FCE7284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008"/>
            <a:ext cx="9906000" cy="535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26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2E60F7-A5BD-A065-814D-F6C43476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421"/>
            <a:ext cx="9906000" cy="536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76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DD754F-E92F-BEA3-1BA4-883C7B47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4117"/>
            <a:ext cx="9906000" cy="536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53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0CE5CF-96CF-706C-52C9-93EE508F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004"/>
            <a:ext cx="9906000" cy="537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90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A13DD7A-EDCD-4DFB-60A6-2FAADB266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446"/>
            <a:ext cx="9906000" cy="538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83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A78A6B-BD10-55A3-84F3-CE011E07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256"/>
            <a:ext cx="9906000" cy="539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6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E836B04-A9BB-C123-3D9D-0DF35C97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567"/>
            <a:ext cx="9906000" cy="539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56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21ED025-6F58-9410-C8F7-E3782E1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0" y="72008"/>
            <a:ext cx="8640960" cy="764704"/>
          </a:xfrm>
        </p:spPr>
        <p:txBody>
          <a:bodyPr/>
          <a:lstStyle/>
          <a:p>
            <a:r>
              <a:rPr lang="zh-TW" altLang="en-US" dirty="0"/>
              <a:t>後台畫面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297E92-F168-218D-33E9-E8435C552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810"/>
            <a:ext cx="9906000" cy="53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147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3512840" y="2996952"/>
            <a:ext cx="2880320" cy="72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chemeClr val="accent1"/>
                </a:solidFill>
              </a:rPr>
              <a:t>T</a:t>
            </a:r>
            <a:r>
              <a:rPr lang="en-US" altLang="zh-TW" sz="4000" dirty="0">
                <a:solidFill>
                  <a:schemeClr val="accent2"/>
                </a:solidFill>
              </a:rPr>
              <a:t>h</a:t>
            </a:r>
            <a:r>
              <a:rPr lang="en-US" altLang="zh-TW" sz="4000" dirty="0">
                <a:solidFill>
                  <a:schemeClr val="accent3"/>
                </a:solidFill>
              </a:rPr>
              <a:t>a</a:t>
            </a:r>
            <a:r>
              <a:rPr lang="en-US" altLang="zh-TW" sz="4000" dirty="0">
                <a:solidFill>
                  <a:schemeClr val="accent4"/>
                </a:solidFill>
              </a:rPr>
              <a:t>n</a:t>
            </a:r>
            <a:r>
              <a:rPr lang="en-US" altLang="zh-TW" sz="4000" dirty="0">
                <a:solidFill>
                  <a:schemeClr val="accent5"/>
                </a:solidFill>
              </a:rPr>
              <a:t>k</a:t>
            </a:r>
            <a:r>
              <a:rPr lang="en-US" altLang="zh-TW" sz="40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altLang="zh-TW" sz="4000" dirty="0">
                <a:solidFill>
                  <a:schemeClr val="accent6"/>
                </a:solidFill>
              </a:rPr>
              <a:t>y</a:t>
            </a:r>
            <a:r>
              <a:rPr lang="en-US" altLang="zh-TW" sz="4000" dirty="0">
                <a:solidFill>
                  <a:schemeClr val="accent1"/>
                </a:solidFill>
              </a:rPr>
              <a:t>o</a:t>
            </a:r>
            <a:r>
              <a:rPr lang="en-US" altLang="zh-TW" sz="4000" dirty="0">
                <a:solidFill>
                  <a:schemeClr val="accent3"/>
                </a:solidFill>
              </a:rPr>
              <a:t>u</a:t>
            </a:r>
            <a:endParaRPr lang="zh-TW" altLang="en-US" sz="4000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723819"/>
      </p:ext>
    </p:extLst>
  </p:cSld>
  <p:clrMapOvr>
    <a:masterClrMapping/>
  </p:clrMapOvr>
</p:sld>
</file>

<file path=ppt/theme/theme1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資策會2021簡報範本_dark.potx" id="{81C76F81-1671-4B56-BD0F-02ECACBEA1CD}" vid="{64F81388-CB1B-4503-9A85-CB10ADCB8F3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資策會2021_簡報範本_dark_1</Template>
  <TotalTime>4236</TotalTime>
  <Words>848</Words>
  <Application>Microsoft Office PowerPoint</Application>
  <PresentationFormat>A4 紙張 (210x297 公釐)</PresentationFormat>
  <Paragraphs>263</Paragraphs>
  <Slides>44</Slides>
  <Notes>2</Notes>
  <HiddenSlides>0</HiddenSlides>
  <MMClips>1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1" baseType="lpstr">
      <vt:lpstr>Arial Unicode MS</vt:lpstr>
      <vt:lpstr>微軟正黑體</vt:lpstr>
      <vt:lpstr>新細明體</vt:lpstr>
      <vt:lpstr>Arial</vt:lpstr>
      <vt:lpstr>Calibri</vt:lpstr>
      <vt:lpstr>Wingdings</vt:lpstr>
      <vt:lpstr>2020簡報範本_light</vt:lpstr>
      <vt:lpstr>Travel Nest (機票訂購網)</vt:lpstr>
      <vt:lpstr>目錄</vt:lpstr>
      <vt:lpstr>PowerPoint 簡報</vt:lpstr>
      <vt:lpstr>PowerPoint 簡報</vt:lpstr>
      <vt:lpstr>PowerPoint 簡報</vt:lpstr>
      <vt:lpstr>動機及目標</vt:lpstr>
      <vt:lpstr>PowerPoint 簡報</vt:lpstr>
      <vt:lpstr>PowerPoint 簡報</vt:lpstr>
      <vt:lpstr>網站介紹</vt:lpstr>
      <vt:lpstr>PowerPoint 簡報</vt:lpstr>
      <vt:lpstr>搜尋/訂購演示</vt:lpstr>
      <vt:lpstr>PowerPoint 簡報</vt:lpstr>
      <vt:lpstr>篩選與排序</vt:lpstr>
      <vt:lpstr>PowerPoint 簡報</vt:lpstr>
      <vt:lpstr>PowerPoint 簡報</vt:lpstr>
      <vt:lpstr>PowerPoint 簡報</vt:lpstr>
      <vt:lpstr>第三方支付-ECPay</vt:lpstr>
      <vt:lpstr>PowerPoint 簡報</vt:lpstr>
      <vt:lpstr>PowerPoint 簡報</vt:lpstr>
      <vt:lpstr>評論系統</vt:lpstr>
      <vt:lpstr>Cloud Storage</vt:lpstr>
      <vt:lpstr>聯繫我們-表單自動確認信</vt:lpstr>
      <vt:lpstr>聯繫我們-表單自動確認信</vt:lpstr>
      <vt:lpstr>聯繫我們-表單自動確認信</vt:lpstr>
      <vt:lpstr>PowerPoint 簡報</vt:lpstr>
      <vt:lpstr>會員註冊</vt:lpstr>
      <vt:lpstr>第三方登入-Firebase</vt:lpstr>
      <vt:lpstr>會員資料更新</vt:lpstr>
      <vt:lpstr>攔截器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後台畫面</vt:lpstr>
      <vt:lpstr>PowerPoint 簡報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題目</dc:title>
  <dc:creator>Wei-Tsung Wang</dc:creator>
  <cp:lastModifiedBy>User</cp:lastModifiedBy>
  <cp:revision>446</cp:revision>
  <dcterms:created xsi:type="dcterms:W3CDTF">2021-04-12T00:49:08Z</dcterms:created>
  <dcterms:modified xsi:type="dcterms:W3CDTF">2024-10-25T09:15:09Z</dcterms:modified>
  <cp:category/>
</cp:coreProperties>
</file>